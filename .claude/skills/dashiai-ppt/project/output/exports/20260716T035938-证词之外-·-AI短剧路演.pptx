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4630400" cy="8229600"/>
          </a:xfrm>
          <a:prstGeom prst="roundRect">
            <a:avLst>
              <a:gd name="adj" fmla="val 2536"/>
            </a:avLst>
          </a:prstGeom>
          <a:solidFill>
            <a:srgbClr val="0B0D10"/>
          </a:solidFill>
          <a:ln w="9525">
            <a:solidFill>
              <a:srgbClr val="9678FF">
                <a:alpha val="30000"/>
              </a:srgbClr>
            </a:solidFill>
            <a:prstDash val="solid"/>
          </a:ln>
          <a:effectLst>
            <a:outerShdw sx="100000" sy="100000" kx="0" ky="0" algn="bl" rotWithShape="0" blurRad="304800" dist="12700" dir="16200000">
              <a:srgbClr val="9678FF">
                <a:alpha val="6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90" y="7590"/>
            <a:ext cx="14615130" cy="821433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35310" y="335310"/>
            <a:ext cx="13959870" cy="7559070"/>
          </a:xfrm>
          <a:prstGeom prst="roundRect">
            <a:avLst>
              <a:gd name="adj" fmla="val 2761"/>
            </a:avLst>
          </a:prstGeom>
          <a:solidFill>
            <a:srgbClr val="FFFFFF">
              <a:alpha val="0"/>
            </a:srgbClr>
          </a:solidFill>
          <a:ln w="9525">
            <a:solidFill>
              <a:srgbClr val="9678FF">
                <a:alpha val="34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822960" y="670530"/>
            <a:ext cx="2030014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AI原生悬疑短剧</a:t>
            </a:r>
            <a:endParaRPr lang="en-US" sz="1584" dirty="0"/>
          </a:p>
        </p:txBody>
      </p:sp>
      <p:sp>
        <p:nvSpPr>
          <p:cNvPr id="11" name="Text 6"/>
          <p:cNvSpPr/>
          <p:nvPr/>
        </p:nvSpPr>
        <p:spPr>
          <a:xfrm>
            <a:off x="822960" y="4586768"/>
            <a:ext cx="2565898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215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</a:t>
            </a:r>
            <a:endParaRPr lang="en-US" sz="4920" dirty="0"/>
          </a:p>
        </p:txBody>
      </p:sp>
      <p:sp>
        <p:nvSpPr>
          <p:cNvPr id="12" name="Text 7"/>
          <p:cNvSpPr/>
          <p:nvPr/>
        </p:nvSpPr>
        <p:spPr>
          <a:xfrm>
            <a:off x="822960" y="5273460"/>
            <a:ext cx="5655473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215"/>
              </a:lnSpc>
              <a:buNone/>
            </a:pPr>
            <a:r>
              <a:rPr lang="en-US" sz="4920" b="1" spc="-61" kern="0" dirty="0">
                <a:solidFill>
                  <a:srgbClr val="A09B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Beyond Testimony</a:t>
            </a:r>
            <a:endParaRPr lang="en-US" sz="4920" dirty="0"/>
          </a:p>
        </p:txBody>
      </p:sp>
      <p:sp>
        <p:nvSpPr>
          <p:cNvPr id="13" name="Text 8"/>
          <p:cNvSpPr/>
          <p:nvPr/>
        </p:nvSpPr>
        <p:spPr>
          <a:xfrm>
            <a:off x="822960" y="6224704"/>
            <a:ext cx="2529870" cy="380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9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听见的，未必是真相。</a:t>
            </a:r>
            <a:endParaRPr lang="en-US" sz="1920" dirty="0"/>
          </a:p>
        </p:txBody>
      </p:sp>
      <p:sp>
        <p:nvSpPr>
          <p:cNvPr id="14" name="Text 9"/>
          <p:cNvSpPr/>
          <p:nvPr/>
        </p:nvSpPr>
        <p:spPr>
          <a:xfrm>
            <a:off x="822960" y="6834224"/>
            <a:ext cx="1223467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8min+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822960" y="7284750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成片时长</a:t>
            </a:r>
            <a:endParaRPr lang="en-US" sz="1584" dirty="0"/>
          </a:p>
        </p:txBody>
      </p:sp>
      <p:sp>
        <p:nvSpPr>
          <p:cNvPr id="16" name="Shape 11"/>
          <p:cNvSpPr/>
          <p:nvPr/>
        </p:nvSpPr>
        <p:spPr>
          <a:xfrm>
            <a:off x="2259848" y="6896130"/>
            <a:ext cx="7590" cy="63249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572207" y="6834224"/>
            <a:ext cx="597408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2572207" y="7284750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镜头设计</a:t>
            </a:r>
            <a:endParaRPr lang="en-US" sz="1584" dirty="0"/>
          </a:p>
        </p:txBody>
      </p:sp>
      <p:sp>
        <p:nvSpPr>
          <p:cNvPr id="19" name="Shape 14"/>
          <p:cNvSpPr/>
          <p:nvPr/>
        </p:nvSpPr>
        <p:spPr>
          <a:xfrm>
            <a:off x="3637849" y="6896130"/>
            <a:ext cx="7590" cy="63249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950299" y="6834224"/>
            <a:ext cx="1090148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3950299" y="7284750"/>
            <a:ext cx="80147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AI生成</a:t>
            </a:r>
            <a:endParaRPr lang="en-US" sz="1584" dirty="0"/>
          </a:p>
        </p:txBody>
      </p:sp>
      <p:sp>
        <p:nvSpPr>
          <p:cNvPr id="22" name="Text 17"/>
          <p:cNvSpPr/>
          <p:nvPr/>
        </p:nvSpPr>
        <p:spPr>
          <a:xfrm>
            <a:off x="11547775" y="7284750"/>
            <a:ext cx="247235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主视觉 · 替换为产业大图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路演提纲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404061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五分钟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135581" y="1047811"/>
            <a:ext cx="227923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A09B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看懂全链路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955444"/>
            <a:ext cx="227630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8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 · 章</a:t>
            </a:r>
            <a:endParaRPr lang="en-US" sz="1584" dirty="0"/>
          </a:p>
        </p:txBody>
      </p:sp>
      <p:sp>
        <p:nvSpPr>
          <p:cNvPr id="11" name="Text 8"/>
          <p:cNvSpPr/>
          <p:nvPr/>
        </p:nvSpPr>
        <p:spPr>
          <a:xfrm>
            <a:off x="822960" y="2237445"/>
            <a:ext cx="30358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8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节</a:t>
            </a:r>
            <a:endParaRPr lang="en-US" sz="1584" dirty="0"/>
          </a:p>
        </p:txBody>
      </p:sp>
      <p:sp>
        <p:nvSpPr>
          <p:cNvPr id="12" name="Text 9"/>
          <p:cNvSpPr/>
          <p:nvPr/>
        </p:nvSpPr>
        <p:spPr>
          <a:xfrm>
            <a:off x="822960" y="2461748"/>
            <a:ext cx="1572768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20"/>
              </a:lnSpc>
              <a:buNone/>
            </a:pPr>
            <a:r>
              <a:rPr lang="en-US" sz="9000" b="1" spc="-200" kern="0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0" dirty="0"/>
          </a:p>
        </p:txBody>
      </p:sp>
      <p:sp>
        <p:nvSpPr>
          <p:cNvPr id="13" name="Text 10"/>
          <p:cNvSpPr/>
          <p:nvPr/>
        </p:nvSpPr>
        <p:spPr>
          <a:xfrm>
            <a:off x="2255550" y="3168807"/>
            <a:ext cx="32918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" y="6324630"/>
            <a:ext cx="203568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从故事到Skill工具链，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6636990"/>
            <a:ext cx="1996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从对比数据到多项目验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" y="6949440"/>
            <a:ext cx="191594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证——AI短剧的新生产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7261890"/>
            <a:ext cx="6629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范式。</a:t>
            </a:r>
            <a:endParaRPr lang="en-US" sz="15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549" y="232075"/>
            <a:ext cx="8437900" cy="52002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93790" y="255522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A09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720" dirty="0"/>
          </a:p>
        </p:txBody>
      </p:sp>
      <p:sp>
        <p:nvSpPr>
          <p:cNvPr id="20" name="Text 16"/>
          <p:cNvSpPr/>
          <p:nvPr/>
        </p:nvSpPr>
        <p:spPr>
          <a:xfrm>
            <a:off x="5093940" y="2545214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F3F1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故事内核</a:t>
            </a:r>
            <a:endParaRPr lang="en-US" sz="1980" dirty="0"/>
          </a:p>
        </p:txBody>
      </p:sp>
      <p:sp>
        <p:nvSpPr>
          <p:cNvPr id="21" name="Text 17"/>
          <p:cNvSpPr/>
          <p:nvPr/>
        </p:nvSpPr>
        <p:spPr>
          <a:xfrm>
            <a:off x="5093940" y="2875879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FEAFF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证词之外的叙事定位与类型</a:t>
            </a:r>
            <a:endParaRPr lang="en-US" sz="144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alphaModFix amt="84000"/>
          </a:blip>
          <a:stretch>
            <a:fillRect/>
          </a:stretch>
        </p:blipFill>
        <p:spPr>
          <a:xfrm>
            <a:off x="7340346" y="487101"/>
            <a:ext cx="7290054" cy="46902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52560" y="255522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9678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720" dirty="0"/>
          </a:p>
        </p:txBody>
      </p:sp>
      <p:sp>
        <p:nvSpPr>
          <p:cNvPr id="24" name="Text 19"/>
          <p:cNvSpPr/>
          <p:nvPr/>
        </p:nvSpPr>
        <p:spPr>
          <a:xfrm>
            <a:off x="10252710" y="2545214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行业痛点</a:t>
            </a:r>
            <a:endParaRPr lang="en-US" sz="1980" dirty="0"/>
          </a:p>
        </p:txBody>
      </p:sp>
      <p:sp>
        <p:nvSpPr>
          <p:cNvPr id="25" name="Text 20"/>
          <p:cNvSpPr/>
          <p:nvPr/>
        </p:nvSpPr>
        <p:spPr>
          <a:xfrm>
            <a:off x="10252710" y="2875879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为什么AI视频总是塑料感</a:t>
            </a:r>
            <a:endParaRPr lang="en-US" sz="144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>
            <a:alphaModFix amt="84000"/>
          </a:blip>
          <a:stretch>
            <a:fillRect/>
          </a:stretch>
        </p:blipFill>
        <p:spPr>
          <a:xfrm>
            <a:off x="2181667" y="2408347"/>
            <a:ext cx="7927757" cy="46902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93790" y="4476467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9678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720" dirty="0"/>
          </a:p>
        </p:txBody>
      </p:sp>
      <p:sp>
        <p:nvSpPr>
          <p:cNvPr id="28" name="Text 22"/>
          <p:cNvSpPr/>
          <p:nvPr/>
        </p:nvSpPr>
        <p:spPr>
          <a:xfrm>
            <a:off x="5093940" y="4466460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Skill对比</a:t>
            </a:r>
            <a:endParaRPr lang="en-US" sz="1980" dirty="0"/>
          </a:p>
        </p:txBody>
      </p:sp>
      <p:sp>
        <p:nvSpPr>
          <p:cNvPr id="29" name="Text 23"/>
          <p:cNvSpPr/>
          <p:nvPr/>
        </p:nvSpPr>
        <p:spPr>
          <a:xfrm>
            <a:off x="5093940" y="4797034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手写vs工具链的质量鸿沟</a:t>
            </a:r>
            <a:endParaRPr lang="en-US" sz="144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>
            <a:alphaModFix amt="84000"/>
          </a:blip>
          <a:stretch>
            <a:fillRect/>
          </a:stretch>
        </p:blipFill>
        <p:spPr>
          <a:xfrm>
            <a:off x="7340346" y="2408347"/>
            <a:ext cx="7290054" cy="46902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052560" y="4476467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9678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720" dirty="0"/>
          </a:p>
        </p:txBody>
      </p:sp>
      <p:sp>
        <p:nvSpPr>
          <p:cNvPr id="32" name="Text 25"/>
          <p:cNvSpPr/>
          <p:nvPr/>
        </p:nvSpPr>
        <p:spPr>
          <a:xfrm>
            <a:off x="10252710" y="4466460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四层工作流</a:t>
            </a:r>
            <a:endParaRPr lang="en-US" sz="1980" dirty="0"/>
          </a:p>
        </p:txBody>
      </p:sp>
      <p:sp>
        <p:nvSpPr>
          <p:cNvPr id="33" name="Text 26"/>
          <p:cNvSpPr/>
          <p:nvPr/>
        </p:nvSpPr>
        <p:spPr>
          <a:xfrm>
            <a:off x="10252710" y="4797034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锁定角色/空间/节奏/视频</a:t>
            </a:r>
            <a:endParaRPr lang="en-US" sz="144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>
            <a:alphaModFix amt="84000"/>
          </a:blip>
          <a:stretch>
            <a:fillRect/>
          </a:stretch>
        </p:blipFill>
        <p:spPr>
          <a:xfrm>
            <a:off x="2181667" y="4329501"/>
            <a:ext cx="7927757" cy="3900099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893790" y="639762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9678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720" dirty="0"/>
          </a:p>
        </p:txBody>
      </p:sp>
      <p:sp>
        <p:nvSpPr>
          <p:cNvPr id="36" name="Text 28"/>
          <p:cNvSpPr/>
          <p:nvPr/>
        </p:nvSpPr>
        <p:spPr>
          <a:xfrm>
            <a:off x="5093940" y="6387615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多项目验证</a:t>
            </a:r>
            <a:endParaRPr lang="en-US" sz="1980" dirty="0"/>
          </a:p>
        </p:txBody>
      </p:sp>
      <p:sp>
        <p:nvSpPr>
          <p:cNvPr id="37" name="Text 29"/>
          <p:cNvSpPr/>
          <p:nvPr/>
        </p:nvSpPr>
        <p:spPr>
          <a:xfrm>
            <a:off x="5093940" y="6718188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三种类型证明可复用性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故事内核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1902501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BA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Beyond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2311054"/>
            <a:ext cx="6620256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周妍被林晚的遗留语音引回旧公寓，却一步步走进技术与空间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676814"/>
            <a:ext cx="6731447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精准设计的无痕陷阱。一部8分钟以AI语音合成犯罪为核心的冷</a:t>
            </a:r>
            <a:endParaRPr lang="en-US" sz="1920" dirty="0"/>
          </a:p>
        </p:txBody>
      </p:sp>
      <p:sp>
        <p:nvSpPr>
          <p:cNvPr id="12" name="Text 9"/>
          <p:cNvSpPr/>
          <p:nvPr/>
        </p:nvSpPr>
        <p:spPr>
          <a:xfrm>
            <a:off x="822960" y="3042574"/>
            <a:ext cx="155448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调悬疑短剧。</a:t>
            </a:r>
            <a:endParaRPr lang="en-US" sz="192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1309"/>
            <a:ext cx="3897356" cy="41801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9150" y="3736671"/>
            <a:ext cx="851002" cy="766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32"/>
              </a:lnSpc>
              <a:buNone/>
            </a:pPr>
            <a:r>
              <a:rPr lang="en-US" sz="4560" b="1" spc="-114" kern="0" dirty="0">
                <a:solidFill>
                  <a:srgbClr val="A09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4560" dirty="0"/>
          </a:p>
        </p:txBody>
      </p:sp>
      <p:sp>
        <p:nvSpPr>
          <p:cNvPr id="15" name="Text 11"/>
          <p:cNvSpPr/>
          <p:nvPr/>
        </p:nvSpPr>
        <p:spPr>
          <a:xfrm>
            <a:off x="1830354" y="4069171"/>
            <a:ext cx="309872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642" spc="-114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镜</a:t>
            </a:r>
            <a:endParaRPr lang="en-US" sz="1642" dirty="0"/>
          </a:p>
        </p:txBody>
      </p:sp>
      <p:sp>
        <p:nvSpPr>
          <p:cNvPr id="16" name="Text 12"/>
          <p:cNvSpPr/>
          <p:nvPr/>
        </p:nvSpPr>
        <p:spPr>
          <a:xfrm>
            <a:off x="1059150" y="4405945"/>
            <a:ext cx="134846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完整镜头设计</a:t>
            </a:r>
            <a:endParaRPr lang="en-US" sz="1584" dirty="0"/>
          </a:p>
        </p:txBody>
      </p:sp>
      <p:sp>
        <p:nvSpPr>
          <p:cNvPr id="17" name="Text 13"/>
          <p:cNvSpPr/>
          <p:nvPr/>
        </p:nvSpPr>
        <p:spPr>
          <a:xfrm>
            <a:off x="822960" y="5076474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28"/>
              </a:lnSpc>
              <a:buNone/>
            </a:pPr>
            <a:r>
              <a:rPr lang="en-US" sz="1560" b="1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60" dirty="0"/>
          </a:p>
        </p:txBody>
      </p:sp>
      <p:sp>
        <p:nvSpPr>
          <p:cNvPr id="18" name="Text 14"/>
          <p:cNvSpPr/>
          <p:nvPr/>
        </p:nvSpPr>
        <p:spPr>
          <a:xfrm>
            <a:off x="1295430" y="5085893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类型定位</a:t>
            </a:r>
            <a:endParaRPr lang="en-US" sz="1680" dirty="0"/>
          </a:p>
        </p:txBody>
      </p:sp>
      <p:sp>
        <p:nvSpPr>
          <p:cNvPr id="19" name="Text 15"/>
          <p:cNvSpPr/>
          <p:nvPr/>
        </p:nvSpPr>
        <p:spPr>
          <a:xfrm>
            <a:off x="1295430" y="5411785"/>
            <a:ext cx="311911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8分钟冷调悬疑，声音先于画面的惊悚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822960" y="5814030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28"/>
              </a:lnSpc>
              <a:buNone/>
            </a:pPr>
            <a:r>
              <a:rPr lang="en-US" sz="1560" b="1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60" dirty="0"/>
          </a:p>
        </p:txBody>
      </p:sp>
      <p:sp>
        <p:nvSpPr>
          <p:cNvPr id="21" name="Text 17"/>
          <p:cNvSpPr/>
          <p:nvPr/>
        </p:nvSpPr>
        <p:spPr>
          <a:xfrm>
            <a:off x="1295430" y="5823539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技术叙事</a:t>
            </a:r>
            <a:endParaRPr lang="en-US" sz="1680" dirty="0"/>
          </a:p>
        </p:txBody>
      </p:sp>
      <p:sp>
        <p:nvSpPr>
          <p:cNvPr id="22" name="Text 18"/>
          <p:cNvSpPr/>
          <p:nvPr/>
        </p:nvSpPr>
        <p:spPr>
          <a:xfrm>
            <a:off x="1295430" y="6149340"/>
            <a:ext cx="2999415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AI语音复刻作为犯罪工具的社会寓言</a:t>
            </a:r>
            <a:endParaRPr lang="en-US" sz="1440" dirty="0"/>
          </a:p>
        </p:txBody>
      </p:sp>
      <p:sp>
        <p:nvSpPr>
          <p:cNvPr id="23" name="Text 19"/>
          <p:cNvSpPr/>
          <p:nvPr/>
        </p:nvSpPr>
        <p:spPr>
          <a:xfrm>
            <a:off x="822960" y="6551676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28"/>
              </a:lnSpc>
              <a:buNone/>
            </a:pPr>
            <a:r>
              <a:rPr lang="en-US" sz="1560" b="1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60" dirty="0"/>
          </a:p>
        </p:txBody>
      </p:sp>
      <p:sp>
        <p:nvSpPr>
          <p:cNvPr id="24" name="Text 20"/>
          <p:cNvSpPr/>
          <p:nvPr/>
        </p:nvSpPr>
        <p:spPr>
          <a:xfrm>
            <a:off x="1295430" y="6561094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影像风格</a:t>
            </a:r>
            <a:endParaRPr lang="en-US" sz="1680" dirty="0"/>
          </a:p>
        </p:txBody>
      </p:sp>
      <p:sp>
        <p:nvSpPr>
          <p:cNvPr id="25" name="Text 21"/>
          <p:cNvSpPr/>
          <p:nvPr/>
        </p:nvSpPr>
        <p:spPr>
          <a:xfrm>
            <a:off x="1295430" y="6886895"/>
            <a:ext cx="338328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多机位混合运镜、冷调低饱和、单一光源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核心对比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227923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提示词质量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010753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A09B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天差地别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02135"/>
            <a:ext cx="6141750" cy="5656936"/>
          </a:xfrm>
          <a:prstGeom prst="roundRect">
            <a:avLst>
              <a:gd name="adj" fmla="val 491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2135"/>
            <a:ext cx="6141750" cy="5656936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1211580" y="2260305"/>
            <a:ext cx="1561429" cy="441930"/>
          </a:xfrm>
          <a:prstGeom prst="roundRect">
            <a:avLst>
              <a:gd name="adj" fmla="val 12591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9B82FF"/>
            </a:solidFill>
            <a:prstDash val="solid"/>
          </a:ln>
          <a:effectLst>
            <a:outerShdw sx="100000" sy="100000" kx="0" ky="0" algn="bl" rotWithShape="0" blurRad="228600" dist="12700" dir="16200000">
              <a:srgbClr val="9B82FF">
                <a:alpha val="7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371600" y="2382195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188" spc="225" kern="0" dirty="0">
                <a:solidFill>
                  <a:srgbClr val="9B82FF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</a:t>
            </a:r>
            <a:endParaRPr lang="en-US" sz="1188" dirty="0"/>
          </a:p>
        </p:txBody>
      </p:sp>
      <p:sp>
        <p:nvSpPr>
          <p:cNvPr id="14" name="Text 10"/>
          <p:cNvSpPr/>
          <p:nvPr/>
        </p:nvSpPr>
        <p:spPr>
          <a:xfrm>
            <a:off x="1546159" y="2344064"/>
            <a:ext cx="131559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手写提示词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211580" y="2834136"/>
            <a:ext cx="1841297" cy="926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244"/>
              </a:lnSpc>
              <a:buNone/>
            </a:pPr>
            <a:r>
              <a:rPr lang="en-US" sz="5520" b="1" spc="-138" kern="0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63.9</a:t>
            </a:r>
            <a:endParaRPr lang="en-US" sz="5520" dirty="0"/>
          </a:p>
        </p:txBody>
      </p:sp>
      <p:sp>
        <p:nvSpPr>
          <p:cNvPr id="16" name="Text 12"/>
          <p:cNvSpPr/>
          <p:nvPr/>
        </p:nvSpPr>
        <p:spPr>
          <a:xfrm>
            <a:off x="2736891" y="3266145"/>
            <a:ext cx="249083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78"/>
              </a:lnSpc>
              <a:buNone/>
            </a:pPr>
            <a:r>
              <a:rPr lang="en-US" sz="1766" spc="-138" kern="0" dirty="0">
                <a:solidFill>
                  <a:srgbClr val="EEF3F1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766" dirty="0"/>
          </a:p>
        </p:txBody>
      </p:sp>
      <p:sp>
        <p:nvSpPr>
          <p:cNvPr id="17" name="Text 13"/>
          <p:cNvSpPr/>
          <p:nvPr/>
        </p:nvSpPr>
        <p:spPr>
          <a:xfrm>
            <a:off x="1211580" y="3589111"/>
            <a:ext cx="164399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2"/>
              </a:lnSpc>
              <a:buNone/>
            </a:pPr>
            <a:r>
              <a:rPr lang="en-US" sz="1518" spc="35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资金流向头部湾区</a:t>
            </a:r>
            <a:endParaRPr lang="en-US" sz="1518" dirty="0"/>
          </a:p>
        </p:txBody>
      </p:sp>
      <p:sp>
        <p:nvSpPr>
          <p:cNvPr id="18" name="Shape 14"/>
          <p:cNvSpPr/>
          <p:nvPr/>
        </p:nvSpPr>
        <p:spPr>
          <a:xfrm>
            <a:off x="1211580" y="4121384"/>
            <a:ext cx="76170" cy="76170"/>
          </a:xfrm>
          <a:prstGeom prst="ellipse">
            <a:avLst/>
          </a:prstGeom>
          <a:solidFill>
            <a:srgbClr val="9B8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9B82FF">
                <a:alpha val="7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409730" y="4022263"/>
            <a:ext cx="2461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无画质规格=全靠AI自己猜</a:t>
            </a:r>
            <a:endParaRPr lang="en-US" sz="1620" dirty="0"/>
          </a:p>
        </p:txBody>
      </p:sp>
      <p:sp>
        <p:nvSpPr>
          <p:cNvPr id="20" name="Shape 16"/>
          <p:cNvSpPr/>
          <p:nvPr/>
        </p:nvSpPr>
        <p:spPr>
          <a:xfrm>
            <a:off x="1211580" y="4574012"/>
            <a:ext cx="76170" cy="76170"/>
          </a:xfrm>
          <a:prstGeom prst="ellipse">
            <a:avLst/>
          </a:prstGeom>
          <a:solidFill>
            <a:srgbClr val="9B8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9B82FF">
                <a:alpha val="7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1409730" y="4474982"/>
            <a:ext cx="26746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每镜重新描述角色=漂移失控</a:t>
            </a:r>
            <a:endParaRPr lang="en-US" sz="1620" dirty="0"/>
          </a:p>
        </p:txBody>
      </p:sp>
      <p:sp>
        <p:nvSpPr>
          <p:cNvPr id="22" name="Shape 18"/>
          <p:cNvSpPr/>
          <p:nvPr/>
        </p:nvSpPr>
        <p:spPr>
          <a:xfrm>
            <a:off x="1211580" y="5026731"/>
            <a:ext cx="76170" cy="76170"/>
          </a:xfrm>
          <a:prstGeom prst="ellipse">
            <a:avLst/>
          </a:prstGeom>
          <a:solidFill>
            <a:srgbClr val="9B8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9B82FF">
                <a:alpha val="7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409730" y="4927610"/>
            <a:ext cx="22631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镜头之间断裂=无连续性</a:t>
            </a:r>
            <a:endParaRPr lang="en-US" sz="1620" dirty="0"/>
          </a:p>
        </p:txBody>
      </p:sp>
      <p:sp>
        <p:nvSpPr>
          <p:cNvPr id="24" name="Shape 20"/>
          <p:cNvSpPr/>
          <p:nvPr/>
        </p:nvSpPr>
        <p:spPr>
          <a:xfrm>
            <a:off x="7665690" y="1902135"/>
            <a:ext cx="6141750" cy="5656936"/>
          </a:xfrm>
          <a:prstGeom prst="roundRect">
            <a:avLst>
              <a:gd name="adj" fmla="val 491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690" y="1902135"/>
            <a:ext cx="6141750" cy="5656936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6" name="Shape 21"/>
          <p:cNvSpPr/>
          <p:nvPr/>
        </p:nvSpPr>
        <p:spPr>
          <a:xfrm>
            <a:off x="11800241" y="2260305"/>
            <a:ext cx="1618579" cy="441930"/>
          </a:xfrm>
          <a:prstGeom prst="roundRect">
            <a:avLst>
              <a:gd name="adj" fmla="val 12591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8FCE"/>
            </a:solidFill>
            <a:prstDash val="solid"/>
          </a:ln>
          <a:effectLst>
            <a:outerShdw sx="100000" sy="100000" kx="0" ky="0" algn="bl" rotWithShape="0" blurRad="228600" dist="12700" dir="16200000">
              <a:srgbClr val="FF8FCE">
                <a:alpha val="7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11960261" y="2382195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188" spc="225" kern="0" dirty="0">
                <a:solidFill>
                  <a:srgbClr val="FF8FCE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1188" dirty="0"/>
          </a:p>
        </p:txBody>
      </p:sp>
      <p:sp>
        <p:nvSpPr>
          <p:cNvPr id="28" name="Text 23"/>
          <p:cNvSpPr/>
          <p:nvPr/>
        </p:nvSpPr>
        <p:spPr>
          <a:xfrm>
            <a:off x="12134820" y="2344064"/>
            <a:ext cx="1407224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FF8F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Skill生成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11231209" y="2834136"/>
            <a:ext cx="1619768" cy="926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5244"/>
              </a:lnSpc>
              <a:buNone/>
            </a:pPr>
            <a:r>
              <a:rPr lang="en-US" sz="5520" b="1" spc="-138" kern="0" dirty="0">
                <a:solidFill>
                  <a:srgbClr val="FF8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≈10</a:t>
            </a:r>
            <a:endParaRPr lang="en-US" sz="5520" dirty="0"/>
          </a:p>
        </p:txBody>
      </p:sp>
      <p:sp>
        <p:nvSpPr>
          <p:cNvPr id="30" name="Text 25"/>
          <p:cNvSpPr/>
          <p:nvPr/>
        </p:nvSpPr>
        <p:spPr>
          <a:xfrm>
            <a:off x="12754990" y="3267883"/>
            <a:ext cx="663830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678"/>
              </a:lnSpc>
              <a:buNone/>
            </a:pPr>
            <a:r>
              <a:rPr lang="en-US" sz="1766" spc="-138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亿/笔</a:t>
            </a:r>
            <a:endParaRPr lang="en-US" sz="1766" dirty="0"/>
          </a:p>
        </p:txBody>
      </p:sp>
      <p:sp>
        <p:nvSpPr>
          <p:cNvPr id="31" name="Text 26"/>
          <p:cNvSpPr/>
          <p:nvPr/>
        </p:nvSpPr>
        <p:spPr>
          <a:xfrm>
            <a:off x="11774822" y="3589111"/>
            <a:ext cx="164399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442"/>
              </a:lnSpc>
              <a:buNone/>
            </a:pPr>
            <a:r>
              <a:rPr lang="en-US" sz="1518" spc="35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平均单笔估值门槛</a:t>
            </a:r>
            <a:endParaRPr lang="en-US" sz="1518" dirty="0"/>
          </a:p>
        </p:txBody>
      </p:sp>
      <p:sp>
        <p:nvSpPr>
          <p:cNvPr id="32" name="Shape 27"/>
          <p:cNvSpPr/>
          <p:nvPr/>
        </p:nvSpPr>
        <p:spPr>
          <a:xfrm>
            <a:off x="13342650" y="4121384"/>
            <a:ext cx="76170" cy="76170"/>
          </a:xfrm>
          <a:prstGeom prst="ellipse">
            <a:avLst/>
          </a:prstGeom>
          <a:solidFill>
            <a:srgbClr val="FF8FC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FF8FCE">
                <a:alpha val="7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9981956" y="4022263"/>
            <a:ext cx="323871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8K·ARRI色彩·光追·PBR一键锁</a:t>
            </a:r>
            <a:endParaRPr lang="en-US" sz="1620" dirty="0"/>
          </a:p>
        </p:txBody>
      </p:sp>
      <p:sp>
        <p:nvSpPr>
          <p:cNvPr id="34" name="Shape 29"/>
          <p:cNvSpPr/>
          <p:nvPr/>
        </p:nvSpPr>
        <p:spPr>
          <a:xfrm>
            <a:off x="13342650" y="4574012"/>
            <a:ext cx="76170" cy="76170"/>
          </a:xfrm>
          <a:prstGeom prst="ellipse">
            <a:avLst/>
          </a:prstGeom>
          <a:solidFill>
            <a:srgbClr val="FF8FC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FF8FCE">
                <a:alpha val="7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10226192" y="4474982"/>
            <a:ext cx="2994569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挂载参考图+MP3=全片一人一声</a:t>
            </a:r>
            <a:endParaRPr lang="en-US" sz="1620" dirty="0"/>
          </a:p>
        </p:txBody>
      </p:sp>
      <p:sp>
        <p:nvSpPr>
          <p:cNvPr id="36" name="Shape 31"/>
          <p:cNvSpPr/>
          <p:nvPr/>
        </p:nvSpPr>
        <p:spPr>
          <a:xfrm>
            <a:off x="13342650" y="5026731"/>
            <a:ext cx="76170" cy="76170"/>
          </a:xfrm>
          <a:prstGeom prst="ellipse">
            <a:avLst/>
          </a:prstGeom>
          <a:solidFill>
            <a:srgbClr val="FF8FC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FF8FCE">
                <a:alpha val="70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10751790" y="4927610"/>
            <a:ext cx="246888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首帧衔接=上一镜结尾画面</a:t>
            </a:r>
            <a:endParaRPr lang="en-US" sz="1620" dirty="0"/>
          </a:p>
        </p:txBody>
      </p:sp>
      <p:sp>
        <p:nvSpPr>
          <p:cNvPr id="38" name="Shape 33"/>
          <p:cNvSpPr/>
          <p:nvPr/>
        </p:nvSpPr>
        <p:spPr>
          <a:xfrm>
            <a:off x="6949440" y="4364797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364797"/>
            <a:ext cx="731520" cy="731520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07090B">
                <a:alpha val="70000"/>
              </a:srgbClr>
            </a:outerShdw>
          </a:effectLst>
        </p:spPr>
      </p:pic>
      <p:sp>
        <p:nvSpPr>
          <p:cNvPr id="40" name="Text 34"/>
          <p:cNvSpPr/>
          <p:nvPr/>
        </p:nvSpPr>
        <p:spPr>
          <a:xfrm>
            <a:off x="7127565" y="4547677"/>
            <a:ext cx="505701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spc="114" kern="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效率对比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量化差距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51399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A09B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HARD DATA</a:t>
            </a:r>
            <a:endParaRPr lang="en-US" sz="34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1"/>
            <a:ext cx="6960413" cy="7788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9710" y="3874861"/>
            <a:ext cx="1139342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创历史新高</a:t>
            </a:r>
            <a:endParaRPr lang="en-US" sz="1584" dirty="0"/>
          </a:p>
        </p:txBody>
      </p:sp>
      <p:sp>
        <p:nvSpPr>
          <p:cNvPr id="12" name="Text 8"/>
          <p:cNvSpPr/>
          <p:nvPr/>
        </p:nvSpPr>
        <p:spPr>
          <a:xfrm>
            <a:off x="1120140" y="4241491"/>
            <a:ext cx="3237890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A09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120→5</a:t>
            </a:r>
            <a:endParaRPr lang="en-US" sz="7440" dirty="0"/>
          </a:p>
        </p:txBody>
      </p:sp>
      <p:sp>
        <p:nvSpPr>
          <p:cNvPr id="13" name="Text 9"/>
          <p:cNvSpPr/>
          <p:nvPr/>
        </p:nvSpPr>
        <p:spPr>
          <a:xfrm>
            <a:off x="4358030" y="4837176"/>
            <a:ext cx="108201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分钟/镜</a:t>
            </a:r>
            <a:endParaRPr lang="en-US" sz="2232" dirty="0"/>
          </a:p>
        </p:txBody>
      </p:sp>
      <p:sp>
        <p:nvSpPr>
          <p:cNvPr id="14" name="Text 10"/>
          <p:cNvSpPr/>
          <p:nvPr/>
        </p:nvSpPr>
        <p:spPr>
          <a:xfrm>
            <a:off x="1120140" y="5311932"/>
            <a:ext cx="16420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生成速度提升24倍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876" y="441381"/>
            <a:ext cx="6688562" cy="77882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09289" y="3874861"/>
            <a:ext cx="1876989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占全美 VC 近 1/3</a:t>
            </a:r>
            <a:endParaRPr lang="en-US" sz="1584" dirty="0"/>
          </a:p>
        </p:txBody>
      </p:sp>
      <p:sp>
        <p:nvSpPr>
          <p:cNvPr id="17" name="Text 12"/>
          <p:cNvSpPr/>
          <p:nvPr/>
        </p:nvSpPr>
        <p:spPr>
          <a:xfrm>
            <a:off x="5979810" y="4271591"/>
            <a:ext cx="1897106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7440" dirty="0"/>
          </a:p>
        </p:txBody>
      </p:sp>
      <p:sp>
        <p:nvSpPr>
          <p:cNvPr id="18" name="Text 13"/>
          <p:cNvSpPr/>
          <p:nvPr/>
        </p:nvSpPr>
        <p:spPr>
          <a:xfrm>
            <a:off x="7876916" y="4837176"/>
            <a:ext cx="147035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角色一致率</a:t>
            </a:r>
            <a:endParaRPr lang="en-US" sz="2232" dirty="0"/>
          </a:p>
        </p:txBody>
      </p:sp>
      <p:sp>
        <p:nvSpPr>
          <p:cNvPr id="19" name="Text 14"/>
          <p:cNvSpPr/>
          <p:nvPr/>
        </p:nvSpPr>
        <p:spPr>
          <a:xfrm>
            <a:off x="5979810" y="5311932"/>
            <a:ext cx="125428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vs手写仅30%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901" y="441381"/>
            <a:ext cx="6458499" cy="77882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9314" y="3874861"/>
            <a:ext cx="1348466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头部高度追捧</a:t>
            </a:r>
            <a:endParaRPr lang="en-US" sz="1584" dirty="0"/>
          </a:p>
        </p:txBody>
      </p:sp>
      <p:sp>
        <p:nvSpPr>
          <p:cNvPr id="22" name="Text 16"/>
          <p:cNvSpPr/>
          <p:nvPr/>
        </p:nvSpPr>
        <p:spPr>
          <a:xfrm>
            <a:off x="9929835" y="4271591"/>
            <a:ext cx="2454615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440" dirty="0"/>
          </a:p>
        </p:txBody>
      </p:sp>
      <p:sp>
        <p:nvSpPr>
          <p:cNvPr id="23" name="Text 17"/>
          <p:cNvSpPr/>
          <p:nvPr/>
        </p:nvSpPr>
        <p:spPr>
          <a:xfrm>
            <a:off x="12384451" y="4837176"/>
            <a:ext cx="147035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首帧衔接率</a:t>
            </a:r>
            <a:endParaRPr lang="en-US" sz="2232" dirty="0"/>
          </a:p>
        </p:txBody>
      </p:sp>
      <p:sp>
        <p:nvSpPr>
          <p:cNvPr id="24" name="Text 18"/>
          <p:cNvSpPr/>
          <p:nvPr/>
        </p:nvSpPr>
        <p:spPr>
          <a:xfrm>
            <a:off x="9929835" y="5311932"/>
            <a:ext cx="133621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vs手写0%断裂</a:t>
            </a:r>
            <a:endParaRPr lang="en-US" sz="15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9345" y="441381"/>
            <a:ext cx="1951055" cy="77882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566849" y="3874861"/>
            <a:ext cx="100127" cy="431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地理护城河</a:t>
            </a:r>
            <a:endParaRPr lang="en-US" sz="1584" dirty="0"/>
          </a:p>
        </p:txBody>
      </p:sp>
      <p:sp>
        <p:nvSpPr>
          <p:cNvPr id="27" name="Text 20"/>
          <p:cNvSpPr/>
          <p:nvPr/>
        </p:nvSpPr>
        <p:spPr>
          <a:xfrm>
            <a:off x="14437279" y="4271591"/>
            <a:ext cx="229697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440" dirty="0"/>
          </a:p>
        </p:txBody>
      </p:sp>
      <p:sp>
        <p:nvSpPr>
          <p:cNvPr id="28" name="Text 21"/>
          <p:cNvSpPr/>
          <p:nvPr/>
        </p:nvSpPr>
        <p:spPr>
          <a:xfrm>
            <a:off x="14437279" y="5311932"/>
            <a:ext cx="22969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三个项目100%复用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生产方法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四层锁定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63795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A09B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WORKFLOW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107442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9678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760" dirty="0"/>
          </a:p>
        </p:txBody>
      </p:sp>
      <p:sp>
        <p:nvSpPr>
          <p:cNvPr id="13" name="Text 9"/>
          <p:cNvSpPr/>
          <p:nvPr/>
        </p:nvSpPr>
        <p:spPr>
          <a:xfrm>
            <a:off x="107442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角色参考板</a:t>
            </a:r>
            <a:endParaRPr lang="en-US" sz="2160" dirty="0"/>
          </a:p>
        </p:txBody>
      </p:sp>
      <p:sp>
        <p:nvSpPr>
          <p:cNvPr id="14" name="Text 10"/>
          <p:cNvSpPr/>
          <p:nvPr/>
        </p:nvSpPr>
        <p:spPr>
          <a:xfrm>
            <a:off x="1074420" y="3424611"/>
            <a:ext cx="22079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三视图+定妆照=全片同一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74420" y="3710361"/>
            <a:ext cx="10439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张脸不漂移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49040" y="4578218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9B82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17" name="Shape 13"/>
          <p:cNvSpPr/>
          <p:nvPr/>
        </p:nvSpPr>
        <p:spPr>
          <a:xfrm>
            <a:off x="422151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51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9" name="Text 14"/>
          <p:cNvSpPr/>
          <p:nvPr/>
        </p:nvSpPr>
        <p:spPr>
          <a:xfrm>
            <a:off x="447297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9678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760" dirty="0"/>
          </a:p>
        </p:txBody>
      </p:sp>
      <p:sp>
        <p:nvSpPr>
          <p:cNvPr id="20" name="Text 15"/>
          <p:cNvSpPr/>
          <p:nvPr/>
        </p:nvSpPr>
        <p:spPr>
          <a:xfrm>
            <a:off x="447297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场景锚点图</a:t>
            </a:r>
            <a:endParaRPr lang="en-US" sz="2160" dirty="0"/>
          </a:p>
        </p:txBody>
      </p:sp>
      <p:sp>
        <p:nvSpPr>
          <p:cNvPr id="21" name="Text 16"/>
          <p:cNvSpPr/>
          <p:nvPr/>
        </p:nvSpPr>
        <p:spPr>
          <a:xfrm>
            <a:off x="4472970" y="3424611"/>
            <a:ext cx="243573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307/电梯/设备间/露台空间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472970" y="3710361"/>
            <a:ext cx="10439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一致性锁定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147590" y="4578218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9B82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24" name="Shape 19"/>
          <p:cNvSpPr/>
          <p:nvPr/>
        </p:nvSpPr>
        <p:spPr>
          <a:xfrm>
            <a:off x="761997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7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6" name="Text 20"/>
          <p:cNvSpPr/>
          <p:nvPr/>
        </p:nvSpPr>
        <p:spPr>
          <a:xfrm>
            <a:off x="787143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9678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760" dirty="0"/>
          </a:p>
        </p:txBody>
      </p:sp>
      <p:sp>
        <p:nvSpPr>
          <p:cNvPr id="27" name="Text 21"/>
          <p:cNvSpPr/>
          <p:nvPr/>
        </p:nvSpPr>
        <p:spPr>
          <a:xfrm>
            <a:off x="787143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12宫格分镜</a:t>
            </a:r>
            <a:endParaRPr lang="en-US" sz="2160" dirty="0"/>
          </a:p>
        </p:txBody>
      </p:sp>
      <p:sp>
        <p:nvSpPr>
          <p:cNvPr id="28" name="Text 22"/>
          <p:cNvSpPr/>
          <p:nvPr/>
        </p:nvSpPr>
        <p:spPr>
          <a:xfrm>
            <a:off x="7871430" y="3424611"/>
            <a:ext cx="2377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铅笔线稿锁运镜推进和动作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871430" y="3710361"/>
            <a:ext cx="4754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势能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0546050" y="4578218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9B82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31" name="Shape 25"/>
          <p:cNvSpPr/>
          <p:nvPr/>
        </p:nvSpPr>
        <p:spPr>
          <a:xfrm>
            <a:off x="11018520" y="1963125"/>
            <a:ext cx="2788920" cy="559594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1963125"/>
            <a:ext cx="2788920" cy="559594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3" name="Text 26"/>
          <p:cNvSpPr/>
          <p:nvPr/>
        </p:nvSpPr>
        <p:spPr>
          <a:xfrm>
            <a:off x="11269980" y="2119642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9678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760" dirty="0"/>
          </a:p>
        </p:txBody>
      </p:sp>
      <p:sp>
        <p:nvSpPr>
          <p:cNvPr id="34" name="Text 27"/>
          <p:cNvSpPr/>
          <p:nvPr/>
        </p:nvSpPr>
        <p:spPr>
          <a:xfrm>
            <a:off x="11269980" y="295451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视频生成</a:t>
            </a:r>
            <a:endParaRPr lang="en-US" sz="2160" dirty="0"/>
          </a:p>
        </p:txBody>
      </p:sp>
      <p:sp>
        <p:nvSpPr>
          <p:cNvPr id="35" name="Text 28"/>
          <p:cNvSpPr/>
          <p:nvPr/>
        </p:nvSpPr>
        <p:spPr>
          <a:xfrm>
            <a:off x="11269980" y="3424611"/>
            <a:ext cx="231580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参考图驱动——最后一层只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11269980" y="3710361"/>
            <a:ext cx="10439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负责动起来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工具能力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2637739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Skill工具链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069092" y="1065093"/>
            <a:ext cx="223113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A09B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SKILLS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9488"/>
            <a:ext cx="8792870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六套可复用Agent Skill，覆盖从剧本创作到视频交付的完整链路，每启动新项目直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100834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接调用。</a:t>
            </a:r>
            <a:endParaRPr lang="en-US" sz="192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61087"/>
            <a:ext cx="6655552" cy="48979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3268" y="6173937"/>
            <a:ext cx="513207" cy="328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i="1" spc="6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713013" y="6192911"/>
            <a:ext cx="1078821" cy="294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spc="9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视频生成</a:t>
            </a:r>
            <a:endParaRPr lang="en-US" sz="1860" dirty="0"/>
          </a:p>
        </p:txBody>
      </p:sp>
      <p:sp>
        <p:nvSpPr>
          <p:cNvPr id="15" name="Text 11"/>
          <p:cNvSpPr/>
          <p:nvPr/>
        </p:nvSpPr>
        <p:spPr>
          <a:xfrm>
            <a:off x="3004444" y="4810750"/>
            <a:ext cx="513207" cy="328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i="1" spc="6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3551621" y="4829723"/>
            <a:ext cx="1326261" cy="294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spc="9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分镜与资产</a:t>
            </a:r>
            <a:endParaRPr lang="en-US" sz="1860" dirty="0"/>
          </a:p>
        </p:txBody>
      </p:sp>
      <p:sp>
        <p:nvSpPr>
          <p:cNvPr id="17" name="Text 13"/>
          <p:cNvSpPr/>
          <p:nvPr/>
        </p:nvSpPr>
        <p:spPr>
          <a:xfrm>
            <a:off x="3192536" y="3447562"/>
            <a:ext cx="513207" cy="328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i="1" spc="6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3540282" y="3466536"/>
            <a:ext cx="1454410" cy="294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spc="9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编剧 Skill</a:t>
            </a:r>
            <a:endParaRPr lang="en-US" sz="186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508" y="1954804"/>
            <a:ext cx="8185892" cy="39596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41452" y="3721334"/>
            <a:ext cx="538886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i="1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40" dirty="0"/>
          </a:p>
        </p:txBody>
      </p:sp>
      <p:sp>
        <p:nvSpPr>
          <p:cNvPr id="21" name="Text 16"/>
          <p:cNvSpPr/>
          <p:nvPr/>
        </p:nvSpPr>
        <p:spPr>
          <a:xfrm>
            <a:off x="8740110" y="3592952"/>
            <a:ext cx="1348435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编剧 Skill</a:t>
            </a:r>
            <a:endParaRPr lang="en-US" sz="1920" dirty="0"/>
          </a:p>
        </p:txBody>
      </p:sp>
      <p:sp>
        <p:nvSpPr>
          <p:cNvPr id="22" name="Text 17"/>
          <p:cNvSpPr/>
          <p:nvPr/>
        </p:nvSpPr>
        <p:spPr>
          <a:xfrm>
            <a:off x="10016155" y="3621298"/>
            <a:ext cx="619201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spc="60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创作层</a:t>
            </a:r>
            <a:endParaRPr lang="en-US" sz="1320" dirty="0"/>
          </a:p>
        </p:txBody>
      </p:sp>
      <p:sp>
        <p:nvSpPr>
          <p:cNvPr id="23" name="Text 18"/>
          <p:cNvSpPr/>
          <p:nvPr/>
        </p:nvSpPr>
        <p:spPr>
          <a:xfrm>
            <a:off x="8740110" y="4002329"/>
            <a:ext cx="3761613" cy="303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剧本/Treatment/角色圣经/分镜表自动生成</a:t>
            </a:r>
            <a:endParaRPr lang="en-US" sz="15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508" y="3130174"/>
            <a:ext cx="8185892" cy="39596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41452" y="4896703"/>
            <a:ext cx="538886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i="1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40" dirty="0"/>
          </a:p>
        </p:txBody>
      </p:sp>
      <p:sp>
        <p:nvSpPr>
          <p:cNvPr id="26" name="Text 20"/>
          <p:cNvSpPr/>
          <p:nvPr/>
        </p:nvSpPr>
        <p:spPr>
          <a:xfrm>
            <a:off x="8740110" y="4768321"/>
            <a:ext cx="131061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分镜与资产</a:t>
            </a:r>
            <a:endParaRPr lang="en-US" sz="1920" dirty="0"/>
          </a:p>
        </p:txBody>
      </p:sp>
      <p:sp>
        <p:nvSpPr>
          <p:cNvPr id="27" name="Text 21"/>
          <p:cNvSpPr/>
          <p:nvPr/>
        </p:nvSpPr>
        <p:spPr>
          <a:xfrm>
            <a:off x="10165110" y="4796668"/>
            <a:ext cx="619201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spc="60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视觉层</a:t>
            </a:r>
            <a:endParaRPr lang="en-US" sz="1320" dirty="0"/>
          </a:p>
        </p:txBody>
      </p:sp>
      <p:sp>
        <p:nvSpPr>
          <p:cNvPr id="28" name="Text 22"/>
          <p:cNvSpPr/>
          <p:nvPr/>
        </p:nvSpPr>
        <p:spPr>
          <a:xfrm>
            <a:off x="8740110" y="5177699"/>
            <a:ext cx="4042105" cy="303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Shotlist Builder + Scene Board + Asset Canvas</a:t>
            </a:r>
            <a:endParaRPr lang="en-US" sz="15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508" y="4305635"/>
            <a:ext cx="8185892" cy="392396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141452" y="6072073"/>
            <a:ext cx="538886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i="1" dirty="0">
                <a:solidFill>
                  <a:srgbClr val="9B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40" dirty="0"/>
          </a:p>
        </p:txBody>
      </p:sp>
      <p:sp>
        <p:nvSpPr>
          <p:cNvPr id="31" name="Text 24"/>
          <p:cNvSpPr/>
          <p:nvPr/>
        </p:nvSpPr>
        <p:spPr>
          <a:xfrm>
            <a:off x="8740110" y="5943691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视频生成</a:t>
            </a:r>
            <a:endParaRPr lang="en-US" sz="1920" dirty="0"/>
          </a:p>
        </p:txBody>
      </p:sp>
      <p:sp>
        <p:nvSpPr>
          <p:cNvPr id="32" name="Text 25"/>
          <p:cNvSpPr/>
          <p:nvPr/>
        </p:nvSpPr>
        <p:spPr>
          <a:xfrm>
            <a:off x="9921240" y="5972038"/>
            <a:ext cx="619201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spc="60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交付层</a:t>
            </a:r>
            <a:endParaRPr lang="en-US" sz="1320" dirty="0"/>
          </a:p>
        </p:txBody>
      </p:sp>
      <p:sp>
        <p:nvSpPr>
          <p:cNvPr id="33" name="Text 26"/>
          <p:cNvSpPr/>
          <p:nvPr/>
        </p:nvSpPr>
        <p:spPr>
          <a:xfrm>
            <a:off x="8740110" y="6353068"/>
            <a:ext cx="3613023" cy="303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Seedance 2.0提示词模板 + 对白节奏优化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52101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多项目验证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一套工具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A09B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三种风格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9488"/>
            <a:ext cx="8812713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同一套Skill工具链产出完全不同类型的作品，验证可复用性。后续可替换为实际视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100834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频片段。</a:t>
            </a:r>
            <a:endParaRPr lang="en-US" sz="192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46000"/>
          </a:blip>
          <a:stretch>
            <a:fillRect/>
          </a:stretch>
        </p:blipFill>
        <p:spPr>
          <a:xfrm>
            <a:off x="0" y="1291773"/>
            <a:ext cx="5358384" cy="69378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7710" y="461708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357884" y="4647621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悬疑</a:t>
            </a:r>
            <a:endParaRPr lang="en-US" sz="1452" dirty="0"/>
          </a:p>
        </p:txBody>
      </p:sp>
      <p:sp>
        <p:nvSpPr>
          <p:cNvPr id="15" name="Text 11"/>
          <p:cNvSpPr/>
          <p:nvPr/>
        </p:nvSpPr>
        <p:spPr>
          <a:xfrm>
            <a:off x="967710" y="4977248"/>
            <a:ext cx="2876520" cy="3603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22"/>
              </a:lnSpc>
              <a:buNone/>
            </a:pPr>
            <a:r>
              <a:rPr lang="en-US" sz="22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 · 72镜</a:t>
            </a:r>
            <a:endParaRPr lang="en-US" sz="228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>
            <a:off x="2665476" y="1291773"/>
            <a:ext cx="5996087" cy="69378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70980" y="461708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661154" y="4647621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动画</a:t>
            </a:r>
            <a:endParaRPr lang="en-US" sz="1452" dirty="0"/>
          </a:p>
        </p:txBody>
      </p:sp>
      <p:sp>
        <p:nvSpPr>
          <p:cNvPr id="19" name="Text 14"/>
          <p:cNvSpPr/>
          <p:nvPr/>
        </p:nvSpPr>
        <p:spPr>
          <a:xfrm>
            <a:off x="4270980" y="4977248"/>
            <a:ext cx="2876520" cy="3603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22"/>
              </a:lnSpc>
              <a:buNone/>
            </a:pPr>
            <a:r>
              <a:rPr lang="en-US" sz="22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身体小队 · 26镜</a:t>
            </a:r>
            <a:endParaRPr lang="en-US" sz="228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720" y="1036747"/>
            <a:ext cx="6506230" cy="719285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74250" y="461708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CF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964424" y="4647621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CF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萌宠</a:t>
            </a:r>
            <a:endParaRPr lang="en-US" sz="1452" dirty="0"/>
          </a:p>
        </p:txBody>
      </p:sp>
      <p:sp>
        <p:nvSpPr>
          <p:cNvPr id="23" name="Text 17"/>
          <p:cNvSpPr/>
          <p:nvPr/>
        </p:nvSpPr>
        <p:spPr>
          <a:xfrm>
            <a:off x="7574250" y="4977248"/>
            <a:ext cx="2876520" cy="3603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22"/>
              </a:lnSpc>
              <a:buNone/>
            </a:pPr>
            <a:r>
              <a:rPr lang="en-US" sz="2280" b="1" dirty="0">
                <a:solidFill>
                  <a:srgbClr val="F3F1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换了个毛 · 8段</a:t>
            </a:r>
            <a:endParaRPr lang="en-US" sz="228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>
            <a:alphaModFix amt="46000"/>
          </a:blip>
          <a:stretch>
            <a:fillRect/>
          </a:stretch>
        </p:blipFill>
        <p:spPr>
          <a:xfrm>
            <a:off x="9272016" y="1291773"/>
            <a:ext cx="5358384" cy="69378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877520" y="461708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11267694" y="4647621"/>
            <a:ext cx="48578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宣传</a:t>
            </a:r>
            <a:endParaRPr lang="en-US" sz="1452" dirty="0"/>
          </a:p>
        </p:txBody>
      </p:sp>
      <p:sp>
        <p:nvSpPr>
          <p:cNvPr id="27" name="Text 20"/>
          <p:cNvSpPr/>
          <p:nvPr/>
        </p:nvSpPr>
        <p:spPr>
          <a:xfrm>
            <a:off x="10877520" y="4977248"/>
            <a:ext cx="2876520" cy="3603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22"/>
              </a:lnSpc>
              <a:buNone/>
            </a:pPr>
            <a:r>
              <a:rPr lang="en-US" sz="22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哈兰德AI宣传片</a:t>
            </a:r>
            <a:endParaRPr lang="en-US" sz="2280" dirty="0"/>
          </a:p>
        </p:txBody>
      </p:sp>
      <p:sp>
        <p:nvSpPr>
          <p:cNvPr id="28" name="Text 21"/>
          <p:cNvSpPr/>
          <p:nvPr/>
        </p:nvSpPr>
        <p:spPr>
          <a:xfrm>
            <a:off x="10877520" y="5384353"/>
            <a:ext cx="2876520" cy="3146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5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已有成果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制作实例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65093"/>
            <a:ext cx="252511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A09B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SHOWCASE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1752"/>
            <a:ext cx="9180576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以下为已完成的资产和视频片段预览位，可在编辑器中直接替换为实际素材。</a:t>
            </a:r>
            <a:endParaRPr lang="en-US" sz="1920" dirty="0"/>
          </a:p>
        </p:txBody>
      </p:sp>
      <p:sp>
        <p:nvSpPr>
          <p:cNvPr id="11" name="Shape 8"/>
          <p:cNvSpPr/>
          <p:nvPr/>
        </p:nvSpPr>
        <p:spPr>
          <a:xfrm>
            <a:off x="822960" y="2365370"/>
            <a:ext cx="12984480" cy="5193609"/>
          </a:xfrm>
          <a:prstGeom prst="roundRect">
            <a:avLst>
              <a:gd name="adj" fmla="val 401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65370"/>
            <a:ext cx="12984480" cy="51936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9435" y="4828855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10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场景锚点图</a:t>
            </a:r>
            <a:endParaRPr lang="en-US" sz="15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未来规划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437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7811"/>
            <a:ext cx="227923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规模化路线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010753" y="1065093"/>
            <a:ext cx="2248601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A09B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ROADMAP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67023"/>
            <a:ext cx="9028146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证词之外验证闭环后，Skill工具链直接迁移到更多项目，实现规模化AI内容生产。</a:t>
            </a:r>
            <a:endParaRPr lang="en-US" sz="192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877"/>
            <a:ext cx="6459413" cy="72487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04870" y="2723540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当前</a:t>
            </a:r>
            <a:endParaRPr lang="en-US" sz="1584" dirty="0"/>
          </a:p>
        </p:txBody>
      </p:sp>
      <p:sp>
        <p:nvSpPr>
          <p:cNvPr id="13" name="Text 9"/>
          <p:cNvSpPr/>
          <p:nvPr/>
        </p:nvSpPr>
        <p:spPr>
          <a:xfrm>
            <a:off x="4433286" y="270827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04870" y="3144722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证词之外交付</a:t>
            </a:r>
            <a:endParaRPr lang="en-US" sz="2520" dirty="0"/>
          </a:p>
        </p:txBody>
      </p:sp>
      <p:sp>
        <p:nvSpPr>
          <p:cNvPr id="15" name="Text 11"/>
          <p:cNvSpPr/>
          <p:nvPr/>
        </p:nvSpPr>
        <p:spPr>
          <a:xfrm>
            <a:off x="1104870" y="3633643"/>
            <a:ext cx="37033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72镜全片完成、工作流验证闭环</a:t>
            </a:r>
            <a:endParaRPr lang="en-US" sz="168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596" y="980877"/>
            <a:ext cx="7097207" cy="72487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09260" y="2719700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584" dirty="0"/>
          </a:p>
        </p:txBody>
      </p:sp>
      <p:sp>
        <p:nvSpPr>
          <p:cNvPr id="18" name="Text 13"/>
          <p:cNvSpPr/>
          <p:nvPr/>
        </p:nvSpPr>
        <p:spPr>
          <a:xfrm>
            <a:off x="8837676" y="270827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509260" y="3144722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多项目复用</a:t>
            </a:r>
            <a:endParaRPr lang="en-US" sz="2520" dirty="0"/>
          </a:p>
        </p:txBody>
      </p:sp>
      <p:sp>
        <p:nvSpPr>
          <p:cNvPr id="20" name="Text 15"/>
          <p:cNvSpPr/>
          <p:nvPr/>
        </p:nvSpPr>
        <p:spPr>
          <a:xfrm>
            <a:off x="5509260" y="3633643"/>
            <a:ext cx="37033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身体小队/换了个毛直接调用Skill链</a:t>
            </a:r>
            <a:endParaRPr lang="en-US" sz="168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987" y="980877"/>
            <a:ext cx="6459413" cy="724872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13650" y="2719700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584" dirty="0"/>
          </a:p>
        </p:txBody>
      </p:sp>
      <p:sp>
        <p:nvSpPr>
          <p:cNvPr id="23" name="Text 17"/>
          <p:cNvSpPr/>
          <p:nvPr/>
        </p:nvSpPr>
        <p:spPr>
          <a:xfrm>
            <a:off x="13241975" y="270827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913650" y="3144722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规模化生产</a:t>
            </a:r>
            <a:endParaRPr lang="en-US" sz="2520" dirty="0"/>
          </a:p>
        </p:txBody>
      </p:sp>
      <p:sp>
        <p:nvSpPr>
          <p:cNvPr id="25" name="Text 19"/>
          <p:cNvSpPr/>
          <p:nvPr/>
        </p:nvSpPr>
        <p:spPr>
          <a:xfrm>
            <a:off x="9913650" y="3633643"/>
            <a:ext cx="37033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标准化AI短剧工厂、周更节奏</a:t>
            </a:r>
            <a:endParaRPr lang="en-US" sz="1680" dirty="0"/>
          </a:p>
        </p:txBody>
      </p:sp>
      <p:sp>
        <p:nvSpPr>
          <p:cNvPr id="26" name="Shape 20"/>
          <p:cNvSpPr/>
          <p:nvPr/>
        </p:nvSpPr>
        <p:spPr>
          <a:xfrm>
            <a:off x="2986888" y="7277070"/>
            <a:ext cx="8656533" cy="30450"/>
          </a:xfrm>
          <a:prstGeom prst="rect">
            <a:avLst/>
          </a:prstGeom>
          <a:solidFill>
            <a:srgbClr val="9B8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1450" dist="12700" dir="16200000">
              <a:srgbClr val="9678FF">
                <a:alpha val="7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910810" y="7216170"/>
            <a:ext cx="152430" cy="152430"/>
          </a:xfrm>
          <a:prstGeom prst="ellipse">
            <a:avLst/>
          </a:prstGeom>
          <a:solidFill>
            <a:srgbClr val="08081C"/>
          </a:solidFill>
          <a:ln w="38100">
            <a:solidFill>
              <a:srgbClr val="9B82FF"/>
            </a:solidFill>
            <a:prstDash val="solid"/>
          </a:ln>
          <a:effectLst>
            <a:outerShdw sx="100000" sy="100000" kx="0" ky="0" algn="bl" rotWithShape="0" blurRad="190500" dist="12700" dir="16200000">
              <a:srgbClr val="9678FF">
                <a:alpha val="7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239030" y="7216170"/>
            <a:ext cx="152430" cy="152430"/>
          </a:xfrm>
          <a:prstGeom prst="ellipse">
            <a:avLst/>
          </a:prstGeom>
          <a:solidFill>
            <a:srgbClr val="08081C"/>
          </a:solidFill>
          <a:ln w="38100">
            <a:solidFill>
              <a:srgbClr val="9B82FF"/>
            </a:solidFill>
            <a:prstDash val="solid"/>
          </a:ln>
          <a:effectLst>
            <a:outerShdw sx="100000" sy="100000" kx="0" ky="0" algn="bl" rotWithShape="0" blurRad="190500" dist="12700" dir="16200000">
              <a:srgbClr val="9678FF">
                <a:alpha val="7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1567160" y="7216170"/>
            <a:ext cx="152430" cy="152430"/>
          </a:xfrm>
          <a:prstGeom prst="ellipse">
            <a:avLst/>
          </a:prstGeom>
          <a:solidFill>
            <a:srgbClr val="08081C"/>
          </a:solidFill>
          <a:ln w="38100">
            <a:solidFill>
              <a:srgbClr val="9B82FF"/>
            </a:solidFill>
            <a:prstDash val="solid"/>
          </a:ln>
          <a:effectLst>
            <a:outerShdw sx="100000" sy="100000" kx="0" ky="0" algn="bl" rotWithShape="0" blurRad="190500" dist="12700" dir="16200000">
              <a:srgbClr val="9678FF">
                <a:alpha val="70000"/>
              </a:srgbClr>
            </a:outerShdw>
          </a:effectLst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/ 73</a:t>
            </a:r>
            <a:endParaRPr lang="en-US" sz="1584" dirty="0"/>
          </a:p>
        </p:txBody>
      </p:sp>
      <p:sp>
        <p:nvSpPr>
          <p:cNvPr id="6" name="Shape 3"/>
          <p:cNvSpPr/>
          <p:nvPr/>
        </p:nvSpPr>
        <p:spPr>
          <a:xfrm>
            <a:off x="937260" y="670530"/>
            <a:ext cx="22860" cy="3461278"/>
          </a:xfrm>
          <a:prstGeom prst="rect">
            <a:avLst/>
          </a:prstGeom>
          <a:solidFill>
            <a:srgbClr val="9B8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 rot="10800000">
            <a:off x="822960" y="4268968"/>
            <a:ext cx="288036" cy="96496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452" spc="528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</a:t>
            </a:r>
            <a:endParaRPr lang="en-US" sz="1452" dirty="0"/>
          </a:p>
        </p:txBody>
      </p:sp>
      <p:sp>
        <p:nvSpPr>
          <p:cNvPr id="8" name="Shape 5"/>
          <p:cNvSpPr/>
          <p:nvPr/>
        </p:nvSpPr>
        <p:spPr>
          <a:xfrm>
            <a:off x="1272570" y="670530"/>
            <a:ext cx="259050" cy="15270"/>
          </a:xfrm>
          <a:prstGeom prst="ellipse">
            <a:avLst/>
          </a:prstGeom>
          <a:solidFill>
            <a:srgbClr val="9B82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9678FF">
                <a:alpha val="7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272570" y="670530"/>
            <a:ext cx="496821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9B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加入我们</a:t>
            </a:r>
            <a:endParaRPr lang="en-US" sz="1584" dirty="0"/>
          </a:p>
        </p:txBody>
      </p:sp>
      <p:sp>
        <p:nvSpPr>
          <p:cNvPr id="10" name="Text 7"/>
          <p:cNvSpPr/>
          <p:nvPr/>
        </p:nvSpPr>
        <p:spPr>
          <a:xfrm>
            <a:off x="1272570" y="1059059"/>
            <a:ext cx="2373234" cy="865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97"/>
              </a:lnSpc>
              <a:buNone/>
            </a:pPr>
            <a:r>
              <a:rPr lang="en-US" sz="4560" b="1" spc="-85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一起创造</a:t>
            </a:r>
            <a:endParaRPr lang="en-US" sz="4560" dirty="0"/>
          </a:p>
        </p:txBody>
      </p:sp>
      <p:sp>
        <p:nvSpPr>
          <p:cNvPr id="11" name="Text 8"/>
          <p:cNvSpPr/>
          <p:nvPr/>
        </p:nvSpPr>
        <p:spPr>
          <a:xfrm>
            <a:off x="3554364" y="1081691"/>
            <a:ext cx="2518867" cy="865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97"/>
              </a:lnSpc>
              <a:buNone/>
            </a:pPr>
            <a:r>
              <a:rPr lang="en-US" sz="4560" b="1" spc="-85" kern="0" dirty="0">
                <a:solidFill>
                  <a:srgbClr val="A09B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JOIN US</a:t>
            </a:r>
            <a:endParaRPr lang="en-US" sz="4560" dirty="0"/>
          </a:p>
        </p:txBody>
      </p:sp>
      <p:sp>
        <p:nvSpPr>
          <p:cNvPr id="12" name="Text 9"/>
          <p:cNvSpPr/>
          <p:nvPr/>
        </p:nvSpPr>
        <p:spPr>
          <a:xfrm>
            <a:off x="1272570" y="1985345"/>
            <a:ext cx="4944161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AI短剧不是未来，是现在。我们正在用工具链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1272570" y="2351105"/>
            <a:ext cx="4966106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证明：一个人加一套Skill，就能持续产出院线</a:t>
            </a:r>
            <a:endParaRPr lang="en-US" sz="1920" dirty="0"/>
          </a:p>
        </p:txBody>
      </p:sp>
      <p:sp>
        <p:nvSpPr>
          <p:cNvPr id="14" name="Text 11"/>
          <p:cNvSpPr/>
          <p:nvPr/>
        </p:nvSpPr>
        <p:spPr>
          <a:xfrm>
            <a:off x="1272570" y="2716865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级短片。</a:t>
            </a:r>
            <a:endParaRPr lang="en-US" sz="192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508"/>
            <a:ext cx="6117702" cy="42092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24030" y="3412678"/>
            <a:ext cx="1280160" cy="804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4800" b="1" spc="-120" kern="0" dirty="0">
                <a:solidFill>
                  <a:srgbClr val="A09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4800" dirty="0"/>
          </a:p>
        </p:txBody>
      </p:sp>
      <p:sp>
        <p:nvSpPr>
          <p:cNvPr id="17" name="Text 13"/>
          <p:cNvSpPr/>
          <p:nvPr/>
        </p:nvSpPr>
        <p:spPr>
          <a:xfrm>
            <a:off x="2697480" y="3767968"/>
            <a:ext cx="74176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42"/>
              </a:lnSpc>
              <a:buNone/>
            </a:pPr>
            <a:r>
              <a:rPr lang="en-US" sz="1728" spc="-12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亿美元</a:t>
            </a:r>
            <a:endParaRPr lang="en-US" sz="1728" dirty="0"/>
          </a:p>
        </p:txBody>
      </p:sp>
      <p:sp>
        <p:nvSpPr>
          <p:cNvPr id="18" name="Text 14"/>
          <p:cNvSpPr/>
          <p:nvPr/>
        </p:nvSpPr>
        <p:spPr>
          <a:xfrm>
            <a:off x="1524030" y="4109222"/>
            <a:ext cx="309935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 年融资 · 估值超 190 亿</a:t>
            </a:r>
            <a:endParaRPr lang="en-US" sz="1584" dirty="0"/>
          </a:p>
        </p:txBody>
      </p:sp>
      <p:sp>
        <p:nvSpPr>
          <p:cNvPr id="19" name="Shape 15"/>
          <p:cNvSpPr/>
          <p:nvPr/>
        </p:nvSpPr>
        <p:spPr>
          <a:xfrm>
            <a:off x="1272570" y="4787341"/>
            <a:ext cx="860268" cy="419070"/>
          </a:xfrm>
          <a:prstGeom prst="roundRect">
            <a:avLst>
              <a:gd name="adj" fmla="val 13278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417320" y="4787341"/>
            <a:ext cx="721096" cy="446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算力云</a:t>
            </a:r>
            <a:endParaRPr lang="en-US" sz="1584" dirty="0"/>
          </a:p>
        </p:txBody>
      </p:sp>
      <p:sp>
        <p:nvSpPr>
          <p:cNvPr id="21" name="Shape 17"/>
          <p:cNvSpPr/>
          <p:nvPr/>
        </p:nvSpPr>
        <p:spPr>
          <a:xfrm>
            <a:off x="2224187" y="4787341"/>
            <a:ext cx="1504737" cy="419070"/>
          </a:xfrm>
          <a:prstGeom prst="roundRect">
            <a:avLst>
              <a:gd name="adj" fmla="val 13278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369028" y="4787341"/>
            <a:ext cx="1460845" cy="446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长约</a:t>
            </a:r>
            <a:endParaRPr lang="en-US" sz="1584" dirty="0"/>
          </a:p>
        </p:txBody>
      </p:sp>
      <p:sp>
        <p:nvSpPr>
          <p:cNvPr id="23" name="Shape 19"/>
          <p:cNvSpPr/>
          <p:nvPr/>
        </p:nvSpPr>
        <p:spPr>
          <a:xfrm>
            <a:off x="3820363" y="4787341"/>
            <a:ext cx="1601297" cy="419070"/>
          </a:xfrm>
          <a:prstGeom prst="roundRect">
            <a:avLst>
              <a:gd name="adj" fmla="val 13278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965113" y="4787341"/>
            <a:ext cx="1539118" cy="446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H100 / H200</a:t>
            </a:r>
            <a:endParaRPr lang="en-US" sz="15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证词之外 · AI短剧路演</dc:title>
  <dc:subject>Editable PPTX export</dc:subject>
  <dc:creator>DashiAI PPT</dc:creator>
  <cp:lastModifiedBy>DashiAI PPT</cp:lastModifiedBy>
  <cp:revision>1</cp:revision>
  <dcterms:created xsi:type="dcterms:W3CDTF">2026-07-16T04:00:26Z</dcterms:created>
  <dcterms:modified xsi:type="dcterms:W3CDTF">2026-07-16T04:00:26Z</dcterms:modified>
</cp:coreProperties>
</file>