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4630400" cy="8229600"/>
          </a:xfrm>
          <a:prstGeom prst="roundRect">
            <a:avLst>
              <a:gd name="adj" fmla="val 2536"/>
            </a:avLst>
          </a:prstGeom>
          <a:solidFill>
            <a:srgbClr val="0B0D10"/>
          </a:solidFill>
          <a:ln w="9525">
            <a:solidFill>
              <a:srgbClr val="2FE07F">
                <a:alpha val="30000"/>
              </a:srgbClr>
            </a:solidFill>
            <a:prstDash val="solid"/>
          </a:ln>
          <a:effectLst>
            <a:outerShdw sx="100000" sy="100000" kx="0" ky="0" algn="bl" rotWithShape="0" blurRad="304800" dist="12700" dir="16200000">
              <a:srgbClr val="2FE07F">
                <a:alpha val="6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90" y="7590"/>
            <a:ext cx="14615130" cy="821433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35310" y="335310"/>
            <a:ext cx="13959870" cy="7559070"/>
          </a:xfrm>
          <a:prstGeom prst="roundRect">
            <a:avLst>
              <a:gd name="adj" fmla="val 2761"/>
            </a:avLst>
          </a:prstGeom>
          <a:solidFill>
            <a:srgbClr val="FFFFFF">
              <a:alpha val="0"/>
            </a:srgbClr>
          </a:solidFill>
          <a:ln w="9525">
            <a:solidFill>
              <a:srgbClr val="2FE07F">
                <a:alpha val="34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822960" y="670530"/>
            <a:ext cx="2030014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AI原生悬疑短剧</a:t>
            </a:r>
            <a:endParaRPr lang="en-US" sz="1584" dirty="0"/>
          </a:p>
        </p:txBody>
      </p:sp>
      <p:sp>
        <p:nvSpPr>
          <p:cNvPr id="11" name="Text 6"/>
          <p:cNvSpPr/>
          <p:nvPr/>
        </p:nvSpPr>
        <p:spPr>
          <a:xfrm>
            <a:off x="822960" y="4586768"/>
            <a:ext cx="2565898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215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</a:t>
            </a:r>
            <a:endParaRPr lang="en-US" sz="4920" dirty="0"/>
          </a:p>
        </p:txBody>
      </p:sp>
      <p:sp>
        <p:nvSpPr>
          <p:cNvPr id="12" name="Text 7"/>
          <p:cNvSpPr/>
          <p:nvPr/>
        </p:nvSpPr>
        <p:spPr>
          <a:xfrm>
            <a:off x="822960" y="5273460"/>
            <a:ext cx="5655473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215"/>
              </a:lnSpc>
              <a:buNone/>
            </a:pPr>
            <a:r>
              <a:rPr lang="en-US" sz="4920" b="1" spc="-61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Beyond Testimony</a:t>
            </a:r>
            <a:endParaRPr lang="en-US" sz="4920" dirty="0"/>
          </a:p>
        </p:txBody>
      </p:sp>
      <p:sp>
        <p:nvSpPr>
          <p:cNvPr id="13" name="Text 8"/>
          <p:cNvSpPr/>
          <p:nvPr/>
        </p:nvSpPr>
        <p:spPr>
          <a:xfrm>
            <a:off x="822960" y="6224704"/>
            <a:ext cx="2529870" cy="380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9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听见的，未必是真相。</a:t>
            </a:r>
            <a:endParaRPr lang="en-US" sz="1920" dirty="0"/>
          </a:p>
        </p:txBody>
      </p:sp>
      <p:sp>
        <p:nvSpPr>
          <p:cNvPr id="14" name="Text 9"/>
          <p:cNvSpPr/>
          <p:nvPr/>
        </p:nvSpPr>
        <p:spPr>
          <a:xfrm>
            <a:off x="822960" y="6834224"/>
            <a:ext cx="1223467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8min+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822960" y="7284750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成片时长</a:t>
            </a:r>
            <a:endParaRPr lang="en-US" sz="1584" dirty="0"/>
          </a:p>
        </p:txBody>
      </p:sp>
      <p:sp>
        <p:nvSpPr>
          <p:cNvPr id="16" name="Shape 11"/>
          <p:cNvSpPr/>
          <p:nvPr/>
        </p:nvSpPr>
        <p:spPr>
          <a:xfrm>
            <a:off x="2259848" y="6896130"/>
            <a:ext cx="7590" cy="63249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572207" y="6834224"/>
            <a:ext cx="597408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2572207" y="7284750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镜头设计</a:t>
            </a:r>
            <a:endParaRPr lang="en-US" sz="1584" dirty="0"/>
          </a:p>
        </p:txBody>
      </p:sp>
      <p:sp>
        <p:nvSpPr>
          <p:cNvPr id="19" name="Shape 14"/>
          <p:cNvSpPr/>
          <p:nvPr/>
        </p:nvSpPr>
        <p:spPr>
          <a:xfrm>
            <a:off x="3637849" y="6896130"/>
            <a:ext cx="7590" cy="63249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950299" y="6834224"/>
            <a:ext cx="1090148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3950299" y="7284750"/>
            <a:ext cx="80147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AI生成</a:t>
            </a:r>
            <a:endParaRPr lang="en-US" sz="1584" dirty="0"/>
          </a:p>
        </p:txBody>
      </p:sp>
      <p:sp>
        <p:nvSpPr>
          <p:cNvPr id="22" name="Text 17"/>
          <p:cNvSpPr/>
          <p:nvPr/>
        </p:nvSpPr>
        <p:spPr>
          <a:xfrm>
            <a:off x="11547775" y="7284750"/>
            <a:ext cx="247235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主视觉 · 替换为产业大图</a:t>
            </a:r>
            <a:endParaRPr lang="en-US" sz="15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内容提纲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404061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五分钟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135581" y="1047811"/>
            <a:ext cx="227923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看懂全链路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955444"/>
            <a:ext cx="227630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88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 · 章</a:t>
            </a:r>
            <a:endParaRPr lang="en-US" sz="1584" dirty="0"/>
          </a:p>
        </p:txBody>
      </p:sp>
      <p:sp>
        <p:nvSpPr>
          <p:cNvPr id="11" name="Text 8"/>
          <p:cNvSpPr/>
          <p:nvPr/>
        </p:nvSpPr>
        <p:spPr>
          <a:xfrm>
            <a:off x="822960" y="2237445"/>
            <a:ext cx="30358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88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节</a:t>
            </a:r>
            <a:endParaRPr lang="en-US" sz="1584" dirty="0"/>
          </a:p>
        </p:txBody>
      </p:sp>
      <p:sp>
        <p:nvSpPr>
          <p:cNvPr id="12" name="Text 9"/>
          <p:cNvSpPr/>
          <p:nvPr/>
        </p:nvSpPr>
        <p:spPr>
          <a:xfrm>
            <a:off x="822960" y="2461748"/>
            <a:ext cx="1572768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20"/>
              </a:lnSpc>
              <a:buNone/>
            </a:pPr>
            <a:r>
              <a:rPr lang="en-US" sz="9000" b="1" spc="-200" kern="0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0" dirty="0"/>
          </a:p>
        </p:txBody>
      </p:sp>
      <p:sp>
        <p:nvSpPr>
          <p:cNvPr id="13" name="Text 10"/>
          <p:cNvSpPr/>
          <p:nvPr/>
        </p:nvSpPr>
        <p:spPr>
          <a:xfrm>
            <a:off x="2255550" y="3168807"/>
            <a:ext cx="32918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2960" y="6324630"/>
            <a:ext cx="203568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从故事到Skill工具链，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6636990"/>
            <a:ext cx="1996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从对比数据到多项目验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" y="6949440"/>
            <a:ext cx="191594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证——看我们怎么做AI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" y="7261890"/>
            <a:ext cx="6629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短剧。</a:t>
            </a:r>
            <a:endParaRPr lang="en-US" sz="15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549" y="232075"/>
            <a:ext cx="8437900" cy="52002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93790" y="255522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5D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720" dirty="0"/>
          </a:p>
        </p:txBody>
      </p:sp>
      <p:sp>
        <p:nvSpPr>
          <p:cNvPr id="20" name="Text 16"/>
          <p:cNvSpPr/>
          <p:nvPr/>
        </p:nvSpPr>
        <p:spPr>
          <a:xfrm>
            <a:off x="5093940" y="2545214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AFF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故事内核</a:t>
            </a:r>
            <a:endParaRPr lang="en-US" sz="1980" dirty="0"/>
          </a:p>
        </p:txBody>
      </p:sp>
      <p:sp>
        <p:nvSpPr>
          <p:cNvPr id="21" name="Text 17"/>
          <p:cNvSpPr/>
          <p:nvPr/>
        </p:nvSpPr>
        <p:spPr>
          <a:xfrm>
            <a:off x="5093940" y="2875879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证词之外的叙事定位与类型</a:t>
            </a:r>
            <a:endParaRPr lang="en-US" sz="144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>
            <a:alphaModFix amt="84000"/>
          </a:blip>
          <a:stretch>
            <a:fillRect/>
          </a:stretch>
        </p:blipFill>
        <p:spPr>
          <a:xfrm>
            <a:off x="7340346" y="487101"/>
            <a:ext cx="7290054" cy="46902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52560" y="255522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720" dirty="0"/>
          </a:p>
        </p:txBody>
      </p:sp>
      <p:sp>
        <p:nvSpPr>
          <p:cNvPr id="24" name="Text 19"/>
          <p:cNvSpPr/>
          <p:nvPr/>
        </p:nvSpPr>
        <p:spPr>
          <a:xfrm>
            <a:off x="10252710" y="2545214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行业痛点</a:t>
            </a:r>
            <a:endParaRPr lang="en-US" sz="1980" dirty="0"/>
          </a:p>
        </p:txBody>
      </p:sp>
      <p:sp>
        <p:nvSpPr>
          <p:cNvPr id="25" name="Text 20"/>
          <p:cNvSpPr/>
          <p:nvPr/>
        </p:nvSpPr>
        <p:spPr>
          <a:xfrm>
            <a:off x="10252710" y="2875879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为什么AI视频总是塑料感</a:t>
            </a:r>
            <a:endParaRPr lang="en-US" sz="144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>
            <a:alphaModFix amt="84000"/>
          </a:blip>
          <a:stretch>
            <a:fillRect/>
          </a:stretch>
        </p:blipFill>
        <p:spPr>
          <a:xfrm>
            <a:off x="2181667" y="2408347"/>
            <a:ext cx="7927757" cy="46902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93790" y="4476467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720" dirty="0"/>
          </a:p>
        </p:txBody>
      </p:sp>
      <p:sp>
        <p:nvSpPr>
          <p:cNvPr id="28" name="Text 22"/>
          <p:cNvSpPr/>
          <p:nvPr/>
        </p:nvSpPr>
        <p:spPr>
          <a:xfrm>
            <a:off x="5093940" y="4466460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Skill对比</a:t>
            </a:r>
            <a:endParaRPr lang="en-US" sz="1980" dirty="0"/>
          </a:p>
        </p:txBody>
      </p:sp>
      <p:sp>
        <p:nvSpPr>
          <p:cNvPr id="29" name="Text 23"/>
          <p:cNvSpPr/>
          <p:nvPr/>
        </p:nvSpPr>
        <p:spPr>
          <a:xfrm>
            <a:off x="5093940" y="4797034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手写vs工具链的质量鸿沟</a:t>
            </a:r>
            <a:endParaRPr lang="en-US" sz="144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>
            <a:alphaModFix amt="84000"/>
          </a:blip>
          <a:stretch>
            <a:fillRect/>
          </a:stretch>
        </p:blipFill>
        <p:spPr>
          <a:xfrm>
            <a:off x="7340346" y="2408347"/>
            <a:ext cx="7290054" cy="46902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052560" y="4476467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720" dirty="0"/>
          </a:p>
        </p:txBody>
      </p:sp>
      <p:sp>
        <p:nvSpPr>
          <p:cNvPr id="32" name="Text 25"/>
          <p:cNvSpPr/>
          <p:nvPr/>
        </p:nvSpPr>
        <p:spPr>
          <a:xfrm>
            <a:off x="10252710" y="4466460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四层工作流</a:t>
            </a:r>
            <a:endParaRPr lang="en-US" sz="1980" dirty="0"/>
          </a:p>
        </p:txBody>
      </p:sp>
      <p:sp>
        <p:nvSpPr>
          <p:cNvPr id="33" name="Text 26"/>
          <p:cNvSpPr/>
          <p:nvPr/>
        </p:nvSpPr>
        <p:spPr>
          <a:xfrm>
            <a:off x="10252710" y="4797034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锁定角色/空间/节奏/视频</a:t>
            </a:r>
            <a:endParaRPr lang="en-US" sz="144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>
            <a:alphaModFix amt="84000"/>
          </a:blip>
          <a:stretch>
            <a:fillRect/>
          </a:stretch>
        </p:blipFill>
        <p:spPr>
          <a:xfrm>
            <a:off x="2181667" y="4329501"/>
            <a:ext cx="7927757" cy="3900099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893790" y="639762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720" dirty="0"/>
          </a:p>
        </p:txBody>
      </p:sp>
      <p:sp>
        <p:nvSpPr>
          <p:cNvPr id="36" name="Text 28"/>
          <p:cNvSpPr/>
          <p:nvPr/>
        </p:nvSpPr>
        <p:spPr>
          <a:xfrm>
            <a:off x="5093940" y="6387615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多项目验证</a:t>
            </a:r>
            <a:endParaRPr lang="en-US" sz="1980" dirty="0"/>
          </a:p>
        </p:txBody>
      </p:sp>
      <p:sp>
        <p:nvSpPr>
          <p:cNvPr id="37" name="Text 29"/>
          <p:cNvSpPr/>
          <p:nvPr/>
        </p:nvSpPr>
        <p:spPr>
          <a:xfrm>
            <a:off x="5093940" y="6718188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三种类型证明可复用性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故事内核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237256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SYNOPSIS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2311054"/>
            <a:ext cx="6620256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周妍被林晚的遗留语音引回旧公寓，却一步步走进技术与空间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22960" y="2676814"/>
            <a:ext cx="6731447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精准设计的无痕陷阱。一部8分钟以AI语音合成犯罪为核心的冷</a:t>
            </a:r>
            <a:endParaRPr lang="en-US" sz="1920" dirty="0"/>
          </a:p>
        </p:txBody>
      </p:sp>
      <p:sp>
        <p:nvSpPr>
          <p:cNvPr id="12" name="Text 9"/>
          <p:cNvSpPr/>
          <p:nvPr/>
        </p:nvSpPr>
        <p:spPr>
          <a:xfrm>
            <a:off x="822960" y="3042574"/>
            <a:ext cx="155448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调悬疑短剧。</a:t>
            </a:r>
            <a:endParaRPr lang="en-US" sz="192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1309"/>
            <a:ext cx="3897356" cy="41801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9150" y="3736671"/>
            <a:ext cx="851002" cy="7665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32"/>
              </a:lnSpc>
              <a:buNone/>
            </a:pPr>
            <a:r>
              <a:rPr lang="en-US" sz="4560" b="1" spc="-114" kern="0" dirty="0">
                <a:solidFill>
                  <a:srgbClr val="5D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4560" dirty="0"/>
          </a:p>
        </p:txBody>
      </p:sp>
      <p:sp>
        <p:nvSpPr>
          <p:cNvPr id="15" name="Text 11"/>
          <p:cNvSpPr/>
          <p:nvPr/>
        </p:nvSpPr>
        <p:spPr>
          <a:xfrm>
            <a:off x="1830354" y="4069171"/>
            <a:ext cx="309872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642" spc="-114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镜</a:t>
            </a:r>
            <a:endParaRPr lang="en-US" sz="1642" dirty="0"/>
          </a:p>
        </p:txBody>
      </p:sp>
      <p:sp>
        <p:nvSpPr>
          <p:cNvPr id="16" name="Text 12"/>
          <p:cNvSpPr/>
          <p:nvPr/>
        </p:nvSpPr>
        <p:spPr>
          <a:xfrm>
            <a:off x="1059150" y="4405945"/>
            <a:ext cx="134846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完整镜头设计</a:t>
            </a:r>
            <a:endParaRPr lang="en-US" sz="1584" dirty="0"/>
          </a:p>
        </p:txBody>
      </p:sp>
      <p:sp>
        <p:nvSpPr>
          <p:cNvPr id="17" name="Text 13"/>
          <p:cNvSpPr/>
          <p:nvPr/>
        </p:nvSpPr>
        <p:spPr>
          <a:xfrm>
            <a:off x="822960" y="5076474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28"/>
              </a:lnSpc>
              <a:buNone/>
            </a:pPr>
            <a:r>
              <a:rPr lang="en-US" sz="1560" b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60" dirty="0"/>
          </a:p>
        </p:txBody>
      </p:sp>
      <p:sp>
        <p:nvSpPr>
          <p:cNvPr id="18" name="Text 14"/>
          <p:cNvSpPr/>
          <p:nvPr/>
        </p:nvSpPr>
        <p:spPr>
          <a:xfrm>
            <a:off x="1295430" y="5085893"/>
            <a:ext cx="9448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类型定位</a:t>
            </a:r>
            <a:endParaRPr lang="en-US" sz="1680" dirty="0"/>
          </a:p>
        </p:txBody>
      </p:sp>
      <p:sp>
        <p:nvSpPr>
          <p:cNvPr id="19" name="Text 15"/>
          <p:cNvSpPr/>
          <p:nvPr/>
        </p:nvSpPr>
        <p:spPr>
          <a:xfrm>
            <a:off x="1295430" y="5411785"/>
            <a:ext cx="311911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8分钟冷调悬疑，声音先于画面的惊悚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822960" y="5814030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28"/>
              </a:lnSpc>
              <a:buNone/>
            </a:pPr>
            <a:r>
              <a:rPr lang="en-US" sz="1560" b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60" dirty="0"/>
          </a:p>
        </p:txBody>
      </p:sp>
      <p:sp>
        <p:nvSpPr>
          <p:cNvPr id="21" name="Text 17"/>
          <p:cNvSpPr/>
          <p:nvPr/>
        </p:nvSpPr>
        <p:spPr>
          <a:xfrm>
            <a:off x="1295430" y="5823539"/>
            <a:ext cx="9448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技术叙事</a:t>
            </a:r>
            <a:endParaRPr lang="en-US" sz="1680" dirty="0"/>
          </a:p>
        </p:txBody>
      </p:sp>
      <p:sp>
        <p:nvSpPr>
          <p:cNvPr id="22" name="Text 18"/>
          <p:cNvSpPr/>
          <p:nvPr/>
        </p:nvSpPr>
        <p:spPr>
          <a:xfrm>
            <a:off x="1295430" y="6149340"/>
            <a:ext cx="2999415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AI语音复刻作为犯罪工具的社会寓言</a:t>
            </a:r>
            <a:endParaRPr lang="en-US" sz="1440" dirty="0"/>
          </a:p>
        </p:txBody>
      </p:sp>
      <p:sp>
        <p:nvSpPr>
          <p:cNvPr id="23" name="Text 19"/>
          <p:cNvSpPr/>
          <p:nvPr/>
        </p:nvSpPr>
        <p:spPr>
          <a:xfrm>
            <a:off x="822960" y="6551676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28"/>
              </a:lnSpc>
              <a:buNone/>
            </a:pPr>
            <a:r>
              <a:rPr lang="en-US" sz="1560" b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60" dirty="0"/>
          </a:p>
        </p:txBody>
      </p:sp>
      <p:sp>
        <p:nvSpPr>
          <p:cNvPr id="24" name="Text 20"/>
          <p:cNvSpPr/>
          <p:nvPr/>
        </p:nvSpPr>
        <p:spPr>
          <a:xfrm>
            <a:off x="1295430" y="6561094"/>
            <a:ext cx="9448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影像风格</a:t>
            </a:r>
            <a:endParaRPr lang="en-US" sz="1680" dirty="0"/>
          </a:p>
        </p:txBody>
      </p:sp>
      <p:sp>
        <p:nvSpPr>
          <p:cNvPr id="25" name="Text 21"/>
          <p:cNvSpPr/>
          <p:nvPr/>
        </p:nvSpPr>
        <p:spPr>
          <a:xfrm>
            <a:off x="1295430" y="6886895"/>
            <a:ext cx="338328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多机位混合运镜、冷调低饱和、单一光源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52101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提示词实例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65093"/>
            <a:ext cx="2111807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Shot 001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677089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实际输出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932584"/>
            <a:ext cx="5323545" cy="5626395"/>
          </a:xfrm>
          <a:prstGeom prst="roundRect">
            <a:avLst>
              <a:gd name="adj" fmla="val 5226"/>
            </a:avLst>
          </a:prstGeom>
          <a:solidFill>
            <a:srgbClr val="0611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2584"/>
            <a:ext cx="5323545" cy="5626395"/>
          </a:xfrm>
          <a:prstGeom prst="rect">
            <a:avLst/>
          </a:prstGeom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50" y="2473635"/>
            <a:ext cx="228600" cy="15270"/>
          </a:xfrm>
          <a:prstGeom prst="rect">
            <a:avLst/>
          </a:prstGeom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pic>
      <p:sp>
        <p:nvSpPr>
          <p:cNvPr id="13" name="Text 8"/>
          <p:cNvSpPr/>
          <p:nvPr/>
        </p:nvSpPr>
        <p:spPr>
          <a:xfrm>
            <a:off x="1577340" y="2359335"/>
            <a:ext cx="18610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264" kern="0" dirty="0">
                <a:solidFill>
                  <a:srgbClr val="A8F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证词之外·第一镜</a:t>
            </a:r>
            <a:endParaRPr lang="en-US" sz="1452" dirty="0"/>
          </a:p>
        </p:txBody>
      </p:sp>
      <p:sp>
        <p:nvSpPr>
          <p:cNvPr id="14" name="Text 9"/>
          <p:cNvSpPr/>
          <p:nvPr/>
        </p:nvSpPr>
        <p:spPr>
          <a:xfrm>
            <a:off x="3349904" y="2194099"/>
            <a:ext cx="2688336" cy="220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0"/>
              </a:lnSpc>
              <a:buNone/>
            </a:pPr>
            <a:r>
              <a:rPr lang="en-US" sz="18000" b="1" spc="-200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15" name="Text 10"/>
          <p:cNvSpPr/>
          <p:nvPr/>
        </p:nvSpPr>
        <p:spPr>
          <a:xfrm>
            <a:off x="1226850" y="4943612"/>
            <a:ext cx="929030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931"/>
              </a:lnSpc>
              <a:buNone/>
            </a:pPr>
            <a:r>
              <a:rPr lang="en-US" sz="5040" b="1" spc="-189" kern="0" dirty="0">
                <a:solidFill>
                  <a:srgbClr val="A8F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040" dirty="0"/>
          </a:p>
        </p:txBody>
      </p:sp>
      <p:sp>
        <p:nvSpPr>
          <p:cNvPr id="16" name="Text 11"/>
          <p:cNvSpPr/>
          <p:nvPr/>
        </p:nvSpPr>
        <p:spPr>
          <a:xfrm>
            <a:off x="1226850" y="5765219"/>
            <a:ext cx="4607204" cy="5212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b="1" spc="-45" kern="0" dirty="0">
                <a:solidFill>
                  <a:srgbClr val="EAFF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规格锁定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1226850" y="6448166"/>
            <a:ext cx="40818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74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8K 21:9 IMAX·ARRI Alexa Mini LF·4.5K</a:t>
            </a:r>
            <a:endParaRPr lang="en-US" sz="1740" dirty="0"/>
          </a:p>
        </p:txBody>
      </p:sp>
      <p:sp>
        <p:nvSpPr>
          <p:cNvPr id="18" name="Text 13"/>
          <p:cNvSpPr/>
          <p:nvPr/>
        </p:nvSpPr>
        <p:spPr>
          <a:xfrm>
            <a:off x="1226850" y="6803593"/>
            <a:ext cx="4326941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74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raw·24fps·PBR物理材质·自然胶片颗粒</a:t>
            </a:r>
            <a:endParaRPr lang="en-US" sz="1740" dirty="0"/>
          </a:p>
        </p:txBody>
      </p:sp>
      <p:sp>
        <p:nvSpPr>
          <p:cNvPr id="19" name="Shape 14"/>
          <p:cNvSpPr/>
          <p:nvPr/>
        </p:nvSpPr>
        <p:spPr>
          <a:xfrm>
            <a:off x="822960" y="1932584"/>
            <a:ext cx="5285415" cy="5588356"/>
          </a:xfrm>
          <a:prstGeom prst="roundRect">
            <a:avLst>
              <a:gd name="adj" fmla="val 5264"/>
            </a:avLst>
          </a:prstGeom>
          <a:solidFill>
            <a:srgbClr val="53E696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87464" y="2326325"/>
            <a:ext cx="15270" cy="4838913"/>
          </a:xfrm>
          <a:prstGeom prst="rect">
            <a:avLst/>
          </a:prstGeom>
          <a:solidFill>
            <a:srgbClr val="2FE07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12700" dir="16200000">
              <a:srgbClr val="2FE07F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42715" y="1932584"/>
            <a:ext cx="7264725" cy="187543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42715" y="3796426"/>
            <a:ext cx="7264725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41744" y="2813243"/>
            <a:ext cx="106710" cy="10671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923745" y="2634615"/>
            <a:ext cx="616915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b="1" spc="-78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20" dirty="0"/>
          </a:p>
        </p:txBody>
      </p:sp>
      <p:sp>
        <p:nvSpPr>
          <p:cNvPr id="25" name="Text 20"/>
          <p:cNvSpPr/>
          <p:nvPr/>
        </p:nvSpPr>
        <p:spPr>
          <a:xfrm>
            <a:off x="7627833" y="2556157"/>
            <a:ext cx="5852434" cy="324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36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角色挂载+声纹绑定</a:t>
            </a:r>
            <a:endParaRPr lang="en-US" sz="1980" dirty="0"/>
          </a:p>
        </p:txBody>
      </p:sp>
      <p:sp>
        <p:nvSpPr>
          <p:cNvPr id="26" name="Text 21"/>
          <p:cNvSpPr/>
          <p:nvPr/>
        </p:nvSpPr>
        <p:spPr>
          <a:xfrm>
            <a:off x="7627833" y="2904409"/>
            <a:ext cx="579757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@林深=定妆参考·入耳式耳机·林晚语音沿用MP3声纹·设备压缩失真</a:t>
            </a:r>
            <a:endParaRPr lang="en-US" sz="1440" dirty="0"/>
          </a:p>
        </p:txBody>
      </p:sp>
      <p:sp>
        <p:nvSpPr>
          <p:cNvPr id="27" name="Shape 22"/>
          <p:cNvSpPr/>
          <p:nvPr/>
        </p:nvSpPr>
        <p:spPr>
          <a:xfrm>
            <a:off x="6542715" y="3808110"/>
            <a:ext cx="7264725" cy="187543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542715" y="5671952"/>
            <a:ext cx="7264725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641744" y="4688677"/>
            <a:ext cx="106710" cy="10671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12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6923745" y="4510141"/>
            <a:ext cx="616915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b="1" spc="-78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20" dirty="0"/>
          </a:p>
        </p:txBody>
      </p:sp>
      <p:sp>
        <p:nvSpPr>
          <p:cNvPr id="31" name="Text 26"/>
          <p:cNvSpPr/>
          <p:nvPr/>
        </p:nvSpPr>
        <p:spPr>
          <a:xfrm>
            <a:off x="7627833" y="4431591"/>
            <a:ext cx="6112673" cy="324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36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电影化动态描述</a:t>
            </a:r>
            <a:endParaRPr lang="en-US" sz="1980" dirty="0"/>
          </a:p>
        </p:txBody>
      </p:sp>
      <p:sp>
        <p:nvSpPr>
          <p:cNvPr id="32" name="Text 27"/>
          <p:cNvSpPr/>
          <p:nvPr/>
        </p:nvSpPr>
        <p:spPr>
          <a:xfrm>
            <a:off x="7627833" y="4779843"/>
            <a:ext cx="605780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50mm侧拍中近景→85mm耳机下颌近景→极慢推近面部·三镜头一气呵成</a:t>
            </a:r>
            <a:endParaRPr lang="en-US" sz="1440" dirty="0"/>
          </a:p>
        </p:txBody>
      </p:sp>
      <p:sp>
        <p:nvSpPr>
          <p:cNvPr id="33" name="Shape 28"/>
          <p:cNvSpPr/>
          <p:nvPr/>
        </p:nvSpPr>
        <p:spPr>
          <a:xfrm>
            <a:off x="6641744" y="6564112"/>
            <a:ext cx="106710" cy="10671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12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6923745" y="6385575"/>
            <a:ext cx="616915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b="1" spc="-78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120" dirty="0"/>
          </a:p>
        </p:txBody>
      </p:sp>
      <p:sp>
        <p:nvSpPr>
          <p:cNvPr id="35" name="Text 30"/>
          <p:cNvSpPr/>
          <p:nvPr/>
        </p:nvSpPr>
        <p:spPr>
          <a:xfrm>
            <a:off x="7627833" y="6307117"/>
            <a:ext cx="6035040" cy="324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36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音画同步精确落点</a:t>
            </a:r>
            <a:endParaRPr lang="en-US" sz="1980" dirty="0"/>
          </a:p>
        </p:txBody>
      </p:sp>
      <p:sp>
        <p:nvSpPr>
          <p:cNvPr id="36" name="Text 31"/>
          <p:cNvSpPr/>
          <p:nvPr/>
        </p:nvSpPr>
        <p:spPr>
          <a:xfrm>
            <a:off x="7627833" y="6655369"/>
            <a:ext cx="5980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「哥」字与手指骤停同步·「意外」落在视线飘向合照起点·后续只剩底噪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效率对比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量化差距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251399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HARD DATA</a:t>
            </a:r>
            <a:endParaRPr lang="en-US" sz="348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1"/>
            <a:ext cx="9941814" cy="61066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6330" y="2275484"/>
            <a:ext cx="1139342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创历史新高</a:t>
            </a:r>
            <a:endParaRPr lang="en-US" sz="1584" dirty="0"/>
          </a:p>
        </p:txBody>
      </p:sp>
      <p:sp>
        <p:nvSpPr>
          <p:cNvPr id="12" name="Text 8"/>
          <p:cNvSpPr/>
          <p:nvPr/>
        </p:nvSpPr>
        <p:spPr>
          <a:xfrm>
            <a:off x="1226850" y="2588391"/>
            <a:ext cx="5420197" cy="2069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340"/>
              </a:lnSpc>
              <a:buNone/>
            </a:pPr>
            <a:r>
              <a:rPr lang="en-US" sz="12600" b="1" spc="-200" kern="0" dirty="0">
                <a:solidFill>
                  <a:srgbClr val="5D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120→5</a:t>
            </a:r>
            <a:endParaRPr lang="en-US" sz="12600" dirty="0"/>
          </a:p>
        </p:txBody>
      </p:sp>
      <p:sp>
        <p:nvSpPr>
          <p:cNvPr id="13" name="Text 9"/>
          <p:cNvSpPr/>
          <p:nvPr/>
        </p:nvSpPr>
        <p:spPr>
          <a:xfrm>
            <a:off x="6647048" y="3612338"/>
            <a:ext cx="1756334" cy="637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780" spc="-20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分钟/镜</a:t>
            </a:r>
            <a:endParaRPr lang="en-US" sz="3780" dirty="0"/>
          </a:p>
        </p:txBody>
      </p:sp>
      <p:sp>
        <p:nvSpPr>
          <p:cNvPr id="14" name="Text 10"/>
          <p:cNvSpPr/>
          <p:nvPr/>
        </p:nvSpPr>
        <p:spPr>
          <a:xfrm>
            <a:off x="1226850" y="4365528"/>
            <a:ext cx="2076328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生成速度提升24倍</a:t>
            </a:r>
            <a:endParaRPr lang="en-US" sz="192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186" y="441381"/>
            <a:ext cx="7427214" cy="47669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29700" y="2092604"/>
            <a:ext cx="1876989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占全美 VC 近 1/3</a:t>
            </a:r>
            <a:endParaRPr lang="en-US" sz="1584" dirty="0"/>
          </a:p>
        </p:txBody>
      </p:sp>
      <p:sp>
        <p:nvSpPr>
          <p:cNvPr id="17" name="Text 12"/>
          <p:cNvSpPr/>
          <p:nvPr/>
        </p:nvSpPr>
        <p:spPr>
          <a:xfrm>
            <a:off x="8900130" y="2497113"/>
            <a:ext cx="1372880" cy="8885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5280" b="1" spc="-198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5280" dirty="0"/>
          </a:p>
        </p:txBody>
      </p:sp>
      <p:sp>
        <p:nvSpPr>
          <p:cNvPr id="18" name="Text 13"/>
          <p:cNvSpPr/>
          <p:nvPr/>
        </p:nvSpPr>
        <p:spPr>
          <a:xfrm>
            <a:off x="10273101" y="2923245"/>
            <a:ext cx="107533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26"/>
              </a:lnSpc>
              <a:buNone/>
            </a:pPr>
            <a:r>
              <a:rPr lang="en-US" sz="1584" spc="-198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角色一致率</a:t>
            </a:r>
            <a:endParaRPr lang="en-US" sz="1584" dirty="0"/>
          </a:p>
        </p:txBody>
      </p:sp>
      <p:sp>
        <p:nvSpPr>
          <p:cNvPr id="19" name="Text 14"/>
          <p:cNvSpPr/>
          <p:nvPr/>
        </p:nvSpPr>
        <p:spPr>
          <a:xfrm>
            <a:off x="8900130" y="3282787"/>
            <a:ext cx="125428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vs手写仅30%</a:t>
            </a:r>
            <a:endParaRPr lang="en-US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186" y="2469794"/>
            <a:ext cx="7427214" cy="47669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29700" y="4121018"/>
            <a:ext cx="1348466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头部高度追捧</a:t>
            </a:r>
            <a:endParaRPr lang="en-US" sz="1584" dirty="0"/>
          </a:p>
        </p:txBody>
      </p:sp>
      <p:sp>
        <p:nvSpPr>
          <p:cNvPr id="22" name="Text 16"/>
          <p:cNvSpPr/>
          <p:nvPr/>
        </p:nvSpPr>
        <p:spPr>
          <a:xfrm>
            <a:off x="8900130" y="4525527"/>
            <a:ext cx="1768541" cy="8885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5280" b="1" spc="-198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280" dirty="0"/>
          </a:p>
        </p:txBody>
      </p:sp>
      <p:sp>
        <p:nvSpPr>
          <p:cNvPr id="23" name="Text 17"/>
          <p:cNvSpPr/>
          <p:nvPr/>
        </p:nvSpPr>
        <p:spPr>
          <a:xfrm>
            <a:off x="10668671" y="4951567"/>
            <a:ext cx="107533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26"/>
              </a:lnSpc>
              <a:buNone/>
            </a:pPr>
            <a:r>
              <a:rPr lang="en-US" sz="1584" spc="-198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首帧衔接率</a:t>
            </a:r>
            <a:endParaRPr lang="en-US" sz="1584" dirty="0"/>
          </a:p>
        </p:txBody>
      </p:sp>
      <p:sp>
        <p:nvSpPr>
          <p:cNvPr id="24" name="Text 18"/>
          <p:cNvSpPr/>
          <p:nvPr/>
        </p:nvSpPr>
        <p:spPr>
          <a:xfrm>
            <a:off x="8900130" y="5311110"/>
            <a:ext cx="133621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vs手写0%断裂</a:t>
            </a:r>
            <a:endParaRPr lang="en-US" sz="15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186" y="4498116"/>
            <a:ext cx="7427214" cy="37314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29700" y="6149340"/>
            <a:ext cx="1139342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地理护城河</a:t>
            </a:r>
            <a:endParaRPr lang="en-US" sz="1584" dirty="0"/>
          </a:p>
        </p:txBody>
      </p:sp>
      <p:sp>
        <p:nvSpPr>
          <p:cNvPr id="27" name="Text 20"/>
          <p:cNvSpPr/>
          <p:nvPr/>
        </p:nvSpPr>
        <p:spPr>
          <a:xfrm>
            <a:off x="8900130" y="6553849"/>
            <a:ext cx="538886" cy="8885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5280" b="1" spc="-198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280" dirty="0"/>
          </a:p>
        </p:txBody>
      </p:sp>
      <p:sp>
        <p:nvSpPr>
          <p:cNvPr id="28" name="Text 21"/>
          <p:cNvSpPr/>
          <p:nvPr/>
        </p:nvSpPr>
        <p:spPr>
          <a:xfrm>
            <a:off x="9387230" y="6979890"/>
            <a:ext cx="1260409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26"/>
              </a:lnSpc>
              <a:buNone/>
            </a:pPr>
            <a:r>
              <a:rPr lang="en-US" sz="1584" spc="-198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套Skill通用</a:t>
            </a:r>
            <a:endParaRPr lang="en-US" sz="1584" dirty="0"/>
          </a:p>
        </p:txBody>
      </p:sp>
      <p:sp>
        <p:nvSpPr>
          <p:cNvPr id="29" name="Text 22"/>
          <p:cNvSpPr/>
          <p:nvPr/>
        </p:nvSpPr>
        <p:spPr>
          <a:xfrm>
            <a:off x="8900130" y="7339523"/>
            <a:ext cx="173918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三个项目100%复用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生产方法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四层锁定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263795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WORKFLOW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963125"/>
            <a:ext cx="2788920" cy="559594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3125"/>
            <a:ext cx="2788920" cy="559594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1074420" y="2119642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760" dirty="0"/>
          </a:p>
        </p:txBody>
      </p:sp>
      <p:sp>
        <p:nvSpPr>
          <p:cNvPr id="13" name="Text 9"/>
          <p:cNvSpPr/>
          <p:nvPr/>
        </p:nvSpPr>
        <p:spPr>
          <a:xfrm>
            <a:off x="1074420" y="295451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角色参考板</a:t>
            </a:r>
            <a:endParaRPr lang="en-US" sz="2160" dirty="0"/>
          </a:p>
        </p:txBody>
      </p:sp>
      <p:sp>
        <p:nvSpPr>
          <p:cNvPr id="14" name="Text 10"/>
          <p:cNvSpPr/>
          <p:nvPr/>
        </p:nvSpPr>
        <p:spPr>
          <a:xfrm>
            <a:off x="1074420" y="3424611"/>
            <a:ext cx="22079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三视图+定妆照=全片同一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74420" y="3710361"/>
            <a:ext cx="10439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张脸不漂移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49040" y="4578218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40" dirty="0"/>
          </a:p>
        </p:txBody>
      </p:sp>
      <p:sp>
        <p:nvSpPr>
          <p:cNvPr id="17" name="Shape 13"/>
          <p:cNvSpPr/>
          <p:nvPr/>
        </p:nvSpPr>
        <p:spPr>
          <a:xfrm>
            <a:off x="4221510" y="1963125"/>
            <a:ext cx="2788920" cy="559594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510" y="1963125"/>
            <a:ext cx="2788920" cy="559594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9" name="Text 14"/>
          <p:cNvSpPr/>
          <p:nvPr/>
        </p:nvSpPr>
        <p:spPr>
          <a:xfrm>
            <a:off x="4472970" y="2119642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760" dirty="0"/>
          </a:p>
        </p:txBody>
      </p:sp>
      <p:sp>
        <p:nvSpPr>
          <p:cNvPr id="20" name="Text 15"/>
          <p:cNvSpPr/>
          <p:nvPr/>
        </p:nvSpPr>
        <p:spPr>
          <a:xfrm>
            <a:off x="4472970" y="295451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场景锚点图</a:t>
            </a:r>
            <a:endParaRPr lang="en-US" sz="2160" dirty="0"/>
          </a:p>
        </p:txBody>
      </p:sp>
      <p:sp>
        <p:nvSpPr>
          <p:cNvPr id="21" name="Text 16"/>
          <p:cNvSpPr/>
          <p:nvPr/>
        </p:nvSpPr>
        <p:spPr>
          <a:xfrm>
            <a:off x="4472970" y="3424611"/>
            <a:ext cx="243573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307/电梯/设备间/露台空间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472970" y="3710361"/>
            <a:ext cx="10439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一致性锁定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147590" y="4578218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40" dirty="0"/>
          </a:p>
        </p:txBody>
      </p:sp>
      <p:sp>
        <p:nvSpPr>
          <p:cNvPr id="24" name="Shape 19"/>
          <p:cNvSpPr/>
          <p:nvPr/>
        </p:nvSpPr>
        <p:spPr>
          <a:xfrm>
            <a:off x="7619970" y="1963125"/>
            <a:ext cx="2788920" cy="559594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70" y="1963125"/>
            <a:ext cx="2788920" cy="559594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6" name="Text 20"/>
          <p:cNvSpPr/>
          <p:nvPr/>
        </p:nvSpPr>
        <p:spPr>
          <a:xfrm>
            <a:off x="7871430" y="2119642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760" dirty="0"/>
          </a:p>
        </p:txBody>
      </p:sp>
      <p:sp>
        <p:nvSpPr>
          <p:cNvPr id="27" name="Text 21"/>
          <p:cNvSpPr/>
          <p:nvPr/>
        </p:nvSpPr>
        <p:spPr>
          <a:xfrm>
            <a:off x="7871430" y="295451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12宫格分镜</a:t>
            </a:r>
            <a:endParaRPr lang="en-US" sz="2160" dirty="0"/>
          </a:p>
        </p:txBody>
      </p:sp>
      <p:sp>
        <p:nvSpPr>
          <p:cNvPr id="28" name="Text 22"/>
          <p:cNvSpPr/>
          <p:nvPr/>
        </p:nvSpPr>
        <p:spPr>
          <a:xfrm>
            <a:off x="7871430" y="3424611"/>
            <a:ext cx="2377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铅笔线稿锁运镜推进和动作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871430" y="3710361"/>
            <a:ext cx="47548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势能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0546050" y="4578218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40" dirty="0"/>
          </a:p>
        </p:txBody>
      </p:sp>
      <p:sp>
        <p:nvSpPr>
          <p:cNvPr id="31" name="Shape 25"/>
          <p:cNvSpPr/>
          <p:nvPr/>
        </p:nvSpPr>
        <p:spPr>
          <a:xfrm>
            <a:off x="11018520" y="1963125"/>
            <a:ext cx="2788920" cy="559594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1963125"/>
            <a:ext cx="2788920" cy="559594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33" name="Text 26"/>
          <p:cNvSpPr/>
          <p:nvPr/>
        </p:nvSpPr>
        <p:spPr>
          <a:xfrm>
            <a:off x="11269980" y="2119642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760" dirty="0"/>
          </a:p>
        </p:txBody>
      </p:sp>
      <p:sp>
        <p:nvSpPr>
          <p:cNvPr id="34" name="Text 27"/>
          <p:cNvSpPr/>
          <p:nvPr/>
        </p:nvSpPr>
        <p:spPr>
          <a:xfrm>
            <a:off x="11269980" y="295451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视频生成</a:t>
            </a:r>
            <a:endParaRPr lang="en-US" sz="2160" dirty="0"/>
          </a:p>
        </p:txBody>
      </p:sp>
      <p:sp>
        <p:nvSpPr>
          <p:cNvPr id="35" name="Text 28"/>
          <p:cNvSpPr/>
          <p:nvPr/>
        </p:nvSpPr>
        <p:spPr>
          <a:xfrm>
            <a:off x="11269980" y="3424611"/>
            <a:ext cx="231580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参考图驱动——最后一层只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11269980" y="3710361"/>
            <a:ext cx="10439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负责动起来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236715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全链路SKILL地图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2213458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每个Skill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631552" y="1047811"/>
            <a:ext cx="1404061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做什么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7385"/>
            <a:ext cx="8566099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①Screenwriter ②SceneBoard ③Storyboard ④AssetCanvas ⑤StyleExtractor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22960" y="2098731"/>
            <a:ext cx="7745151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⑥ShotlistBuilder ⑦RenderQuality ⑧Dialogue ⑨RefTemplate ⑩Post</a:t>
            </a:r>
            <a:endParaRPr lang="en-US" sz="1920" dirty="0"/>
          </a:p>
        </p:txBody>
      </p:sp>
      <p:sp>
        <p:nvSpPr>
          <p:cNvPr id="12" name="Text 9"/>
          <p:cNvSpPr/>
          <p:nvPr/>
        </p:nvSpPr>
        <p:spPr>
          <a:xfrm>
            <a:off x="822960" y="2440076"/>
            <a:ext cx="249936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⑪SkillCreator+PPT</a:t>
            </a:r>
            <a:endParaRPr lang="en-US" sz="192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02432"/>
            <a:ext cx="6655552" cy="45566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5074" y="6265743"/>
            <a:ext cx="513207" cy="317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i="1" spc="6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3887754" y="6288969"/>
            <a:ext cx="540830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spc="9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⑩-⑪</a:t>
            </a:r>
            <a:endParaRPr lang="en-US" sz="1860" dirty="0"/>
          </a:p>
        </p:txBody>
      </p:sp>
      <p:sp>
        <p:nvSpPr>
          <p:cNvPr id="16" name="Text 12"/>
          <p:cNvSpPr/>
          <p:nvPr/>
        </p:nvSpPr>
        <p:spPr>
          <a:xfrm>
            <a:off x="3084363" y="4997562"/>
            <a:ext cx="513207" cy="317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i="1" spc="6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3826764" y="5020788"/>
            <a:ext cx="540830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spc="9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⑥-⑨</a:t>
            </a:r>
            <a:endParaRPr lang="en-US" sz="1860" dirty="0"/>
          </a:p>
        </p:txBody>
      </p:sp>
      <p:sp>
        <p:nvSpPr>
          <p:cNvPr id="18" name="Text 14"/>
          <p:cNvSpPr/>
          <p:nvPr/>
        </p:nvSpPr>
        <p:spPr>
          <a:xfrm>
            <a:off x="3259287" y="3729380"/>
            <a:ext cx="513207" cy="317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i="1" spc="6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765774" y="3752515"/>
            <a:ext cx="540830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spc="9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①-⑤</a:t>
            </a:r>
            <a:endParaRPr lang="en-US" sz="186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508" y="2125431"/>
            <a:ext cx="8185892" cy="395962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41452" y="3891869"/>
            <a:ext cx="538886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i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40" dirty="0"/>
          </a:p>
        </p:txBody>
      </p:sp>
      <p:sp>
        <p:nvSpPr>
          <p:cNvPr id="22" name="Text 17"/>
          <p:cNvSpPr/>
          <p:nvPr/>
        </p:nvSpPr>
        <p:spPr>
          <a:xfrm>
            <a:off x="8740110" y="3761384"/>
            <a:ext cx="669341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①-⑤</a:t>
            </a:r>
            <a:endParaRPr lang="en-US" sz="1920" dirty="0"/>
          </a:p>
        </p:txBody>
      </p:sp>
      <p:sp>
        <p:nvSpPr>
          <p:cNvPr id="23" name="Text 18"/>
          <p:cNvSpPr/>
          <p:nvPr/>
        </p:nvSpPr>
        <p:spPr>
          <a:xfrm>
            <a:off x="9523842" y="3791925"/>
            <a:ext cx="899008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spc="60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剧本+资产</a:t>
            </a:r>
            <a:endParaRPr lang="en-US" sz="1320" dirty="0"/>
          </a:p>
        </p:txBody>
      </p:sp>
      <p:sp>
        <p:nvSpPr>
          <p:cNvPr id="24" name="Text 19"/>
          <p:cNvSpPr/>
          <p:nvPr/>
        </p:nvSpPr>
        <p:spPr>
          <a:xfrm>
            <a:off x="8740110" y="4172864"/>
            <a:ext cx="3710910" cy="3036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写剧本·锁空间·画分镜·管资产·提画风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508" y="3300801"/>
            <a:ext cx="8185892" cy="395962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141452" y="5067330"/>
            <a:ext cx="538886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i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40" dirty="0"/>
          </a:p>
        </p:txBody>
      </p:sp>
      <p:sp>
        <p:nvSpPr>
          <p:cNvPr id="27" name="Text 21"/>
          <p:cNvSpPr/>
          <p:nvPr/>
        </p:nvSpPr>
        <p:spPr>
          <a:xfrm>
            <a:off x="8740110" y="4936846"/>
            <a:ext cx="669341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⑥-⑨</a:t>
            </a:r>
            <a:endParaRPr lang="en-US" sz="1920" dirty="0"/>
          </a:p>
        </p:txBody>
      </p:sp>
      <p:sp>
        <p:nvSpPr>
          <p:cNvPr id="28" name="Text 22"/>
          <p:cNvSpPr/>
          <p:nvPr/>
        </p:nvSpPr>
        <p:spPr>
          <a:xfrm>
            <a:off x="9523842" y="4967295"/>
            <a:ext cx="967740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spc="60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视频提示词</a:t>
            </a:r>
            <a:endParaRPr lang="en-US" sz="1320" dirty="0"/>
          </a:p>
        </p:txBody>
      </p:sp>
      <p:sp>
        <p:nvSpPr>
          <p:cNvPr id="29" name="Text 23"/>
          <p:cNvSpPr/>
          <p:nvPr/>
        </p:nvSpPr>
        <p:spPr>
          <a:xfrm>
            <a:off x="8740110" y="5348326"/>
            <a:ext cx="4428805" cy="303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生成7段prompt·消塑料感·控对白节奏·挂参考图</a:t>
            </a:r>
            <a:endParaRPr lang="en-US" sz="15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508" y="4476171"/>
            <a:ext cx="8185892" cy="375342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41452" y="6242700"/>
            <a:ext cx="538886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i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40" dirty="0"/>
          </a:p>
        </p:txBody>
      </p:sp>
      <p:sp>
        <p:nvSpPr>
          <p:cNvPr id="32" name="Text 25"/>
          <p:cNvSpPr/>
          <p:nvPr/>
        </p:nvSpPr>
        <p:spPr>
          <a:xfrm>
            <a:off x="8740110" y="6112215"/>
            <a:ext cx="669341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⑩-⑪</a:t>
            </a:r>
            <a:endParaRPr lang="en-US" sz="1920" dirty="0"/>
          </a:p>
        </p:txBody>
      </p:sp>
      <p:sp>
        <p:nvSpPr>
          <p:cNvPr id="33" name="Text 26"/>
          <p:cNvSpPr/>
          <p:nvPr/>
        </p:nvSpPr>
        <p:spPr>
          <a:xfrm>
            <a:off x="9523842" y="6142665"/>
            <a:ext cx="899008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spc="60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后期+工具</a:t>
            </a:r>
            <a:endParaRPr lang="en-US" sz="1320" dirty="0"/>
          </a:p>
        </p:txBody>
      </p:sp>
      <p:sp>
        <p:nvSpPr>
          <p:cNvPr id="34" name="Text 27"/>
          <p:cNvSpPr/>
          <p:nvPr/>
        </p:nvSpPr>
        <p:spPr>
          <a:xfrm>
            <a:off x="8740110" y="6523695"/>
            <a:ext cx="3518794" cy="3036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剪映调色转场导出·造新Skill·做幻灯片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377635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377635"/>
            <a:ext cx="1197864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核心SKILL详细说明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822960" y="2170146"/>
            <a:ext cx="576340" cy="4922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70"/>
              </a:lnSpc>
              <a:buNone/>
            </a:pPr>
            <a:r>
              <a:rPr lang="en-US" sz="287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70" dirty="0"/>
          </a:p>
        </p:txBody>
      </p:sp>
      <p:sp>
        <p:nvSpPr>
          <p:cNvPr id="8" name="Text 5"/>
          <p:cNvSpPr/>
          <p:nvPr/>
        </p:nvSpPr>
        <p:spPr>
          <a:xfrm>
            <a:off x="1752630" y="2231136"/>
            <a:ext cx="1294486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16" spc="156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横向看集中</a:t>
            </a:r>
            <a:endParaRPr lang="en-US" sz="1716" dirty="0"/>
          </a:p>
        </p:txBody>
      </p:sp>
      <p:sp>
        <p:nvSpPr>
          <p:cNvPr id="9" name="Text 6"/>
          <p:cNvSpPr/>
          <p:nvPr/>
        </p:nvSpPr>
        <p:spPr>
          <a:xfrm>
            <a:off x="1752630" y="2576642"/>
            <a:ext cx="55699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Shotlist Builder：4阶段循环</a:t>
            </a:r>
            <a:endParaRPr lang="en-US" sz="3120" dirty="0"/>
          </a:p>
        </p:txBody>
      </p:sp>
      <p:sp>
        <p:nvSpPr>
          <p:cNvPr id="10" name="Text 7"/>
          <p:cNvSpPr/>
          <p:nvPr/>
        </p:nvSpPr>
        <p:spPr>
          <a:xfrm>
            <a:off x="6896222" y="2576642"/>
            <a:ext cx="2542581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7段式prompt</a:t>
            </a:r>
            <a:endParaRPr lang="en-US" sz="3120" dirty="0"/>
          </a:p>
        </p:txBody>
      </p:sp>
      <p:sp>
        <p:nvSpPr>
          <p:cNvPr id="11" name="Text 8"/>
          <p:cNvSpPr/>
          <p:nvPr/>
        </p:nvSpPr>
        <p:spPr>
          <a:xfrm>
            <a:off x="9347363" y="2576642"/>
            <a:ext cx="2674986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含6套参考文件</a:t>
            </a:r>
            <a:endParaRPr lang="en-US" sz="3120" dirty="0"/>
          </a:p>
        </p:txBody>
      </p:sp>
      <p:sp>
        <p:nvSpPr>
          <p:cNvPr id="12" name="Shape 9"/>
          <p:cNvSpPr/>
          <p:nvPr/>
        </p:nvSpPr>
        <p:spPr>
          <a:xfrm>
            <a:off x="822960" y="3362432"/>
            <a:ext cx="11887200" cy="1405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3362432"/>
            <a:ext cx="11887200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575761"/>
            <a:ext cx="576340" cy="4922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70"/>
              </a:lnSpc>
              <a:buNone/>
            </a:pPr>
            <a:r>
              <a:rPr lang="en-US" sz="287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70" dirty="0"/>
          </a:p>
        </p:txBody>
      </p:sp>
      <p:sp>
        <p:nvSpPr>
          <p:cNvPr id="15" name="Text 12"/>
          <p:cNvSpPr/>
          <p:nvPr/>
        </p:nvSpPr>
        <p:spPr>
          <a:xfrm>
            <a:off x="1752630" y="3636752"/>
            <a:ext cx="1294486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16" spc="156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纵向看节奏</a:t>
            </a:r>
            <a:endParaRPr lang="en-US" sz="1716" dirty="0"/>
          </a:p>
        </p:txBody>
      </p:sp>
      <p:sp>
        <p:nvSpPr>
          <p:cNvPr id="16" name="Text 13"/>
          <p:cNvSpPr/>
          <p:nvPr/>
        </p:nvSpPr>
        <p:spPr>
          <a:xfrm>
            <a:off x="1752630" y="3982349"/>
            <a:ext cx="5396606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Screenwriter：McKee方法论</a:t>
            </a:r>
            <a:endParaRPr lang="en-US" sz="3120" dirty="0"/>
          </a:p>
        </p:txBody>
      </p:sp>
      <p:sp>
        <p:nvSpPr>
          <p:cNvPr id="17" name="Text 14"/>
          <p:cNvSpPr/>
          <p:nvPr/>
        </p:nvSpPr>
        <p:spPr>
          <a:xfrm>
            <a:off x="7057796" y="3982349"/>
            <a:ext cx="2445197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迭代式写剧本</a:t>
            </a:r>
            <a:endParaRPr lang="en-US" sz="3120" dirty="0"/>
          </a:p>
        </p:txBody>
      </p:sp>
      <p:sp>
        <p:nvSpPr>
          <p:cNvPr id="18" name="Text 15"/>
          <p:cNvSpPr/>
          <p:nvPr/>
        </p:nvSpPr>
        <p:spPr>
          <a:xfrm>
            <a:off x="9411553" y="3982349"/>
            <a:ext cx="2720950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输出.docx格式</a:t>
            </a:r>
            <a:endParaRPr lang="en-US" sz="3120" dirty="0"/>
          </a:p>
        </p:txBody>
      </p:sp>
      <p:sp>
        <p:nvSpPr>
          <p:cNvPr id="19" name="Shape 16"/>
          <p:cNvSpPr/>
          <p:nvPr/>
        </p:nvSpPr>
        <p:spPr>
          <a:xfrm>
            <a:off x="822960" y="4768139"/>
            <a:ext cx="11887200" cy="1405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4768139"/>
            <a:ext cx="11887200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981468"/>
            <a:ext cx="576340" cy="4922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70"/>
              </a:lnSpc>
              <a:buNone/>
            </a:pPr>
            <a:r>
              <a:rPr lang="en-US" sz="287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70" dirty="0"/>
          </a:p>
        </p:txBody>
      </p:sp>
      <p:sp>
        <p:nvSpPr>
          <p:cNvPr id="22" name="Text 19"/>
          <p:cNvSpPr/>
          <p:nvPr/>
        </p:nvSpPr>
        <p:spPr>
          <a:xfrm>
            <a:off x="1752630" y="5042459"/>
            <a:ext cx="1294486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16" spc="156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结构看分层</a:t>
            </a:r>
            <a:endParaRPr lang="en-US" sz="1716" dirty="0"/>
          </a:p>
        </p:txBody>
      </p:sp>
      <p:sp>
        <p:nvSpPr>
          <p:cNvPr id="23" name="Text 20"/>
          <p:cNvSpPr/>
          <p:nvPr/>
        </p:nvSpPr>
        <p:spPr>
          <a:xfrm>
            <a:off x="1752630" y="5387965"/>
            <a:ext cx="5546842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Render Quality：6套渲染预设</a:t>
            </a:r>
            <a:endParaRPr lang="en-US" sz="3120" dirty="0"/>
          </a:p>
        </p:txBody>
      </p:sp>
      <p:sp>
        <p:nvSpPr>
          <p:cNvPr id="24" name="Text 21"/>
          <p:cNvSpPr/>
          <p:nvPr/>
        </p:nvSpPr>
        <p:spPr>
          <a:xfrm>
            <a:off x="7208032" y="5387965"/>
            <a:ext cx="2912730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光追+PBR+胶片</a:t>
            </a:r>
            <a:endParaRPr lang="en-US" sz="3120" dirty="0"/>
          </a:p>
        </p:txBody>
      </p:sp>
      <p:sp>
        <p:nvSpPr>
          <p:cNvPr id="25" name="Text 22"/>
          <p:cNvSpPr/>
          <p:nvPr/>
        </p:nvSpPr>
        <p:spPr>
          <a:xfrm>
            <a:off x="10029322" y="5387965"/>
            <a:ext cx="2571476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消灭CG塑料感</a:t>
            </a:r>
            <a:endParaRPr lang="en-US" sz="3120" dirty="0"/>
          </a:p>
        </p:txBody>
      </p:sp>
      <p:sp>
        <p:nvSpPr>
          <p:cNvPr id="26" name="Shape 23"/>
          <p:cNvSpPr/>
          <p:nvPr/>
        </p:nvSpPr>
        <p:spPr>
          <a:xfrm>
            <a:off x="822960" y="6653814"/>
            <a:ext cx="487650" cy="2286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463040" y="6488400"/>
            <a:ext cx="5631119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12" spc="48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其余Skill详见文档，均可独立调用或组合使用</a:t>
            </a:r>
            <a:endParaRPr lang="en-US" sz="211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已有成果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制作实例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252511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SHOWCASE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1752"/>
            <a:ext cx="9180576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Skill驱动的实际产出——从提示词到成片视频的完整验证。</a:t>
            </a:r>
            <a:endParaRPr lang="en-US" sz="1920" dirty="0"/>
          </a:p>
        </p:txBody>
      </p:sp>
      <p:sp>
        <p:nvSpPr>
          <p:cNvPr id="11" name="Shape 8"/>
          <p:cNvSpPr/>
          <p:nvPr/>
        </p:nvSpPr>
        <p:spPr>
          <a:xfrm>
            <a:off x="822960" y="2365370"/>
            <a:ext cx="12984480" cy="5193609"/>
          </a:xfrm>
          <a:prstGeom prst="roundRect">
            <a:avLst>
              <a:gd name="adj" fmla="val 4018"/>
            </a:avLst>
          </a:prstGeom>
          <a:solidFill>
            <a:srgbClr val="0B0D10"/>
          </a:solidFill>
          <a:ln w="9525">
            <a:solidFill>
              <a:srgbClr val="2FE07F">
                <a:alpha val="30000"/>
              </a:srgbClr>
            </a:solidFill>
            <a:prstDash val="solid"/>
          </a:ln>
          <a:effectLst>
            <a:outerShdw sx="100000" sy="100000" kx="0" ky="0" algn="bl" rotWithShape="0" blurRad="304800" dist="12700" dir="16200000">
              <a:srgbClr val="2FE07F">
                <a:alpha val="6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50" y="7010430"/>
            <a:ext cx="12969210" cy="5410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2980" y="7143750"/>
            <a:ext cx="3672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84" dirty="0"/>
          </a:p>
        </p:txBody>
      </p:sp>
      <p:sp>
        <p:nvSpPr>
          <p:cNvPr id="14" name="Text 10"/>
          <p:cNvSpPr/>
          <p:nvPr/>
        </p:nvSpPr>
        <p:spPr>
          <a:xfrm>
            <a:off x="1298357" y="7147590"/>
            <a:ext cx="830367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spc="18" kern="0" dirty="0">
                <a:solidFill>
                  <a:srgbClr val="F3F6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成片片段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316724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2316724"/>
            <a:ext cx="236715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剩余SKILL一句话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716250" y="2568184"/>
            <a:ext cx="1157478" cy="1757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>
                <a:solidFill>
                  <a:srgbClr val="2FE07F">
                    <a:alpha val="1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6413693" y="2913760"/>
            <a:ext cx="5233416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199"/>
              </a:lnSpc>
              <a:buNone/>
            </a:pPr>
            <a:r>
              <a:rPr lang="en-US" sz="4920" b="1" spc="-61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Style Extractor</a:t>
            </a:r>
            <a:endParaRPr lang="en-US" sz="4920" dirty="0"/>
          </a:p>
        </p:txBody>
      </p:sp>
      <p:sp>
        <p:nvSpPr>
          <p:cNvPr id="9" name="Text 6"/>
          <p:cNvSpPr/>
          <p:nvPr/>
        </p:nvSpPr>
        <p:spPr>
          <a:xfrm>
            <a:off x="822960" y="2889276"/>
            <a:ext cx="5682173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199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Board锁空间</a:t>
            </a:r>
            <a:endParaRPr lang="en-US" sz="4920" dirty="0"/>
          </a:p>
        </p:txBody>
      </p:sp>
      <p:sp>
        <p:nvSpPr>
          <p:cNvPr id="10" name="Text 7"/>
          <p:cNvSpPr/>
          <p:nvPr/>
        </p:nvSpPr>
        <p:spPr>
          <a:xfrm>
            <a:off x="822960" y="3676574"/>
            <a:ext cx="8331830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199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提画风·Asset Canvas管资产</a:t>
            </a:r>
            <a:endParaRPr lang="en-US" sz="4920" dirty="0"/>
          </a:p>
        </p:txBody>
      </p:sp>
      <p:sp>
        <p:nvSpPr>
          <p:cNvPr id="11" name="Text 8"/>
          <p:cNvSpPr/>
          <p:nvPr/>
        </p:nvSpPr>
        <p:spPr>
          <a:xfrm>
            <a:off x="822960" y="4463781"/>
            <a:ext cx="9648017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199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·Dialogue控节奏·Post剪映后期</a:t>
            </a:r>
            <a:endParaRPr lang="en-US" sz="4920" dirty="0"/>
          </a:p>
        </p:txBody>
      </p:sp>
      <p:sp>
        <p:nvSpPr>
          <p:cNvPr id="12" name="Shape 9"/>
          <p:cNvSpPr/>
          <p:nvPr/>
        </p:nvSpPr>
        <p:spPr>
          <a:xfrm>
            <a:off x="822960" y="5760446"/>
            <a:ext cx="487650" cy="2286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463040" y="5638556"/>
            <a:ext cx="386896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每个Skill一件事做到极致，组合=产线</a:t>
            </a:r>
            <a:endParaRPr lang="en-US" sz="15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52101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多项目验证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一套工具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三种风格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9488"/>
            <a:ext cx="8812713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同一套Skill工具链产出完全不同类型的作品，验证可复用性。后续可替换为实际视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22960" y="2100834"/>
            <a:ext cx="106683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频片段。</a:t>
            </a:r>
            <a:endParaRPr lang="en-US" sz="192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1773"/>
            <a:ext cx="5358384" cy="69378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7710" y="6462979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357884" y="6493429"/>
            <a:ext cx="48578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悬疑</a:t>
            </a:r>
            <a:endParaRPr lang="en-US" sz="1452" dirty="0"/>
          </a:p>
        </p:txBody>
      </p:sp>
      <p:sp>
        <p:nvSpPr>
          <p:cNvPr id="15" name="Text 11"/>
          <p:cNvSpPr/>
          <p:nvPr/>
        </p:nvSpPr>
        <p:spPr>
          <a:xfrm>
            <a:off x="967710" y="6822636"/>
            <a:ext cx="2876520" cy="290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 · 72镜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67710" y="7160209"/>
            <a:ext cx="2876520" cy="2815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3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 280 亿 · 估值 600 亿美元</a:t>
            </a:r>
            <a:endParaRPr lang="en-US" sz="138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476" y="1291773"/>
            <a:ext cx="5996087" cy="69378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70980" y="6462979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661154" y="6493429"/>
            <a:ext cx="48578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动画</a:t>
            </a:r>
            <a:endParaRPr lang="en-US" sz="1452" dirty="0"/>
          </a:p>
        </p:txBody>
      </p:sp>
      <p:sp>
        <p:nvSpPr>
          <p:cNvPr id="20" name="Text 15"/>
          <p:cNvSpPr/>
          <p:nvPr/>
        </p:nvSpPr>
        <p:spPr>
          <a:xfrm>
            <a:off x="4270980" y="6822636"/>
            <a:ext cx="2876520" cy="290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身体小队 · 26镜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4270980" y="7160209"/>
            <a:ext cx="2876520" cy="2815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3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 180 亿 · 估值 830 亿美元</a:t>
            </a:r>
            <a:endParaRPr lang="en-US" sz="138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746" y="1291773"/>
            <a:ext cx="5996087" cy="693782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74250" y="6462979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964424" y="6493429"/>
            <a:ext cx="48578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萌宠</a:t>
            </a:r>
            <a:endParaRPr lang="en-US" sz="1452" dirty="0"/>
          </a:p>
        </p:txBody>
      </p:sp>
      <p:sp>
        <p:nvSpPr>
          <p:cNvPr id="25" name="Text 19"/>
          <p:cNvSpPr/>
          <p:nvPr/>
        </p:nvSpPr>
        <p:spPr>
          <a:xfrm>
            <a:off x="7574250" y="6822636"/>
            <a:ext cx="2876520" cy="290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换了个毛 · 8段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574250" y="7160209"/>
            <a:ext cx="2876520" cy="2815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3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 190 亿 · 估值 9650 亿美元</a:t>
            </a:r>
            <a:endParaRPr lang="en-US" sz="138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1291773"/>
            <a:ext cx="5358384" cy="693782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877520" y="6462979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11267694" y="6493429"/>
            <a:ext cx="48578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宣传</a:t>
            </a:r>
            <a:endParaRPr lang="en-US" sz="1452" dirty="0"/>
          </a:p>
        </p:txBody>
      </p:sp>
      <p:sp>
        <p:nvSpPr>
          <p:cNvPr id="30" name="Text 23"/>
          <p:cNvSpPr/>
          <p:nvPr/>
        </p:nvSpPr>
        <p:spPr>
          <a:xfrm>
            <a:off x="10877520" y="6822636"/>
            <a:ext cx="2876520" cy="290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哈兰德AI宣传片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10877520" y="7160209"/>
            <a:ext cx="2876520" cy="2815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3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已提交申请 · 预计年内上市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70" y="304770"/>
            <a:ext cx="14020770" cy="7619970"/>
          </a:xfrm>
          <a:prstGeom prst="roundRect">
            <a:avLst>
              <a:gd name="adj" fmla="val 2739"/>
            </a:avLst>
          </a:prstGeom>
          <a:solidFill>
            <a:srgbClr val="0B0D10"/>
          </a:solidFill>
          <a:ln w="9525">
            <a:solidFill>
              <a:srgbClr val="2FE07F">
                <a:alpha val="30000"/>
              </a:srgbClr>
            </a:solidFill>
            <a:prstDash val="solid"/>
          </a:ln>
          <a:effectLst>
            <a:outerShdw sx="100000" sy="100000" kx="0" ky="0" algn="bl" rotWithShape="0" blurRad="304800" dist="12700" dir="16200000">
              <a:srgbClr val="2FE07F">
                <a:alpha val="6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2450" y="312450"/>
            <a:ext cx="14005590" cy="760479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50" y="7376190"/>
            <a:ext cx="14005590" cy="5410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4790" y="7509510"/>
            <a:ext cx="3672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84" dirty="0"/>
          </a:p>
        </p:txBody>
      </p:sp>
      <p:sp>
        <p:nvSpPr>
          <p:cNvPr id="9" name="Text 4"/>
          <p:cNvSpPr/>
          <p:nvPr/>
        </p:nvSpPr>
        <p:spPr>
          <a:xfrm>
            <a:off x="780258" y="7513350"/>
            <a:ext cx="3468776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spc="18" kern="0" dirty="0">
                <a:solidFill>
                  <a:srgbClr val="F3F6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Shot 007b · 周妍直推贴近披露偷录异常</a:t>
            </a:r>
            <a:endParaRPr lang="en-US" sz="144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7114" cy="46730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96310" y="982980"/>
            <a:ext cx="3242188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 007B 完整提示词</a:t>
            </a:r>
            <a:endParaRPr lang="en-US" sz="1584" dirty="0"/>
          </a:p>
        </p:txBody>
      </p:sp>
      <p:sp>
        <p:nvSpPr>
          <p:cNvPr id="12" name="Text 6"/>
          <p:cNvSpPr/>
          <p:nvPr/>
        </p:nvSpPr>
        <p:spPr>
          <a:xfrm>
            <a:off x="5060381" y="98682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/ 73</a:t>
            </a:r>
            <a:endParaRPr lang="en-US" sz="1584" dirty="0"/>
          </a:p>
        </p:txBody>
      </p:sp>
      <p:sp>
        <p:nvSpPr>
          <p:cNvPr id="13" name="Text 7"/>
          <p:cNvSpPr/>
          <p:nvPr/>
        </p:nvSpPr>
        <p:spPr>
          <a:xfrm>
            <a:off x="1196310" y="1329812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实际输出</a:t>
            </a:r>
            <a:endParaRPr lang="en-US" sz="3480" dirty="0"/>
          </a:p>
        </p:txBody>
      </p:sp>
      <p:sp>
        <p:nvSpPr>
          <p:cNvPr id="14" name="Text 8"/>
          <p:cNvSpPr/>
          <p:nvPr/>
        </p:nvSpPr>
        <p:spPr>
          <a:xfrm>
            <a:off x="2946563" y="1347094"/>
            <a:ext cx="3116824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PROMPT</a:t>
            </a:r>
            <a:endParaRPr lang="en-US" sz="3480" dirty="0"/>
          </a:p>
        </p:txBody>
      </p:sp>
      <p:sp>
        <p:nvSpPr>
          <p:cNvPr id="15" name="Text 9"/>
          <p:cNvSpPr/>
          <p:nvPr/>
        </p:nvSpPr>
        <p:spPr>
          <a:xfrm>
            <a:off x="1196310" y="2026127"/>
            <a:ext cx="5781203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Skill一键生成的单镜提示词：规格/挂载/动态/音画/约</a:t>
            </a:r>
            <a:endParaRPr lang="en-US" sz="1920" dirty="0"/>
          </a:p>
        </p:txBody>
      </p:sp>
      <p:sp>
        <p:nvSpPr>
          <p:cNvPr id="16" name="Text 10"/>
          <p:cNvSpPr/>
          <p:nvPr/>
        </p:nvSpPr>
        <p:spPr>
          <a:xfrm>
            <a:off x="1196310" y="2367473"/>
            <a:ext cx="106683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束全覆盖</a:t>
            </a:r>
            <a:endParaRPr lang="en-US" sz="192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进度规划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2716774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接下来做什么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448294" y="1065093"/>
            <a:ext cx="124114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PLAN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67023"/>
            <a:ext cx="9028146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当前阶段聚焦证词之外成片，同步把Skill复用到其他项目验证通用性。</a:t>
            </a:r>
            <a:endParaRPr lang="en-US" sz="192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877"/>
            <a:ext cx="6459413" cy="72487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04870" y="2723540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当前</a:t>
            </a:r>
            <a:endParaRPr lang="en-US" sz="1584" dirty="0"/>
          </a:p>
        </p:txBody>
      </p:sp>
      <p:sp>
        <p:nvSpPr>
          <p:cNvPr id="13" name="Text 9"/>
          <p:cNvSpPr/>
          <p:nvPr/>
        </p:nvSpPr>
        <p:spPr>
          <a:xfrm>
            <a:off x="4433286" y="270827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04870" y="3144722"/>
            <a:ext cx="370332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证词之外成片</a:t>
            </a:r>
            <a:endParaRPr lang="en-US" sz="2520" dirty="0"/>
          </a:p>
        </p:txBody>
      </p:sp>
      <p:sp>
        <p:nvSpPr>
          <p:cNvPr id="15" name="Text 11"/>
          <p:cNvSpPr/>
          <p:nvPr/>
        </p:nvSpPr>
        <p:spPr>
          <a:xfrm>
            <a:off x="1104870" y="3633643"/>
            <a:ext cx="37033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72镜逐步出片、持续优化视觉质量</a:t>
            </a:r>
            <a:endParaRPr lang="en-US" sz="168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596" y="980877"/>
            <a:ext cx="7097207" cy="72487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09260" y="2719700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584" dirty="0"/>
          </a:p>
        </p:txBody>
      </p:sp>
      <p:sp>
        <p:nvSpPr>
          <p:cNvPr id="18" name="Text 13"/>
          <p:cNvSpPr/>
          <p:nvPr/>
        </p:nvSpPr>
        <p:spPr>
          <a:xfrm>
            <a:off x="8837676" y="270827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509260" y="3144722"/>
            <a:ext cx="370332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Skill复用验证</a:t>
            </a:r>
            <a:endParaRPr lang="en-US" sz="2520" dirty="0"/>
          </a:p>
        </p:txBody>
      </p:sp>
      <p:sp>
        <p:nvSpPr>
          <p:cNvPr id="20" name="Text 15"/>
          <p:cNvSpPr/>
          <p:nvPr/>
        </p:nvSpPr>
        <p:spPr>
          <a:xfrm>
            <a:off x="5509260" y="3641232"/>
            <a:ext cx="3588929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身体小队/换了个毛用同一套工具继续</a:t>
            </a:r>
            <a:endParaRPr lang="en-US" sz="1680" dirty="0"/>
          </a:p>
        </p:txBody>
      </p:sp>
      <p:sp>
        <p:nvSpPr>
          <p:cNvPr id="21" name="Text 16"/>
          <p:cNvSpPr/>
          <p:nvPr/>
        </p:nvSpPr>
        <p:spPr>
          <a:xfrm>
            <a:off x="5509260" y="3961272"/>
            <a:ext cx="314554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</a:t>
            </a:r>
            <a:endParaRPr lang="en-US" sz="168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987" y="980877"/>
            <a:ext cx="6459413" cy="724872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913650" y="2719700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1584" dirty="0"/>
          </a:p>
        </p:txBody>
      </p:sp>
      <p:sp>
        <p:nvSpPr>
          <p:cNvPr id="24" name="Text 18"/>
          <p:cNvSpPr/>
          <p:nvPr/>
        </p:nvSpPr>
        <p:spPr>
          <a:xfrm>
            <a:off x="13241975" y="270827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913650" y="3144722"/>
            <a:ext cx="370332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提速增量</a:t>
            </a:r>
            <a:endParaRPr lang="en-US" sz="2520" dirty="0"/>
          </a:p>
        </p:txBody>
      </p:sp>
      <p:sp>
        <p:nvSpPr>
          <p:cNvPr id="26" name="Text 20"/>
          <p:cNvSpPr/>
          <p:nvPr/>
        </p:nvSpPr>
        <p:spPr>
          <a:xfrm>
            <a:off x="9913650" y="3633643"/>
            <a:ext cx="37033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缩短单镜生产周期、提高产出频率</a:t>
            </a:r>
            <a:endParaRPr lang="en-US" sz="1680" dirty="0"/>
          </a:p>
        </p:txBody>
      </p:sp>
      <p:sp>
        <p:nvSpPr>
          <p:cNvPr id="27" name="Shape 21"/>
          <p:cNvSpPr/>
          <p:nvPr/>
        </p:nvSpPr>
        <p:spPr>
          <a:xfrm>
            <a:off x="2986888" y="7277070"/>
            <a:ext cx="8656533" cy="3045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1450" dist="12700" dir="16200000">
              <a:srgbClr val="2FE07F">
                <a:alpha val="7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2910810" y="7216170"/>
            <a:ext cx="152430" cy="152430"/>
          </a:xfrm>
          <a:prstGeom prst="ellipse">
            <a:avLst/>
          </a:prstGeom>
          <a:solidFill>
            <a:srgbClr val="07090B"/>
          </a:solidFill>
          <a:ln w="38100">
            <a:solidFill>
              <a:srgbClr val="2FE07F"/>
            </a:solidFill>
            <a:prstDash val="solid"/>
          </a:ln>
          <a:effectLst>
            <a:outerShdw sx="100000" sy="100000" kx="0" ky="0" algn="bl" rotWithShape="0" blurRad="190500" dist="12700" dir="16200000">
              <a:srgbClr val="2FE07F">
                <a:alpha val="7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239030" y="7216170"/>
            <a:ext cx="152430" cy="152430"/>
          </a:xfrm>
          <a:prstGeom prst="ellipse">
            <a:avLst/>
          </a:prstGeom>
          <a:solidFill>
            <a:srgbClr val="07090B"/>
          </a:solidFill>
          <a:ln w="38100">
            <a:solidFill>
              <a:srgbClr val="2FE07F"/>
            </a:solidFill>
            <a:prstDash val="solid"/>
          </a:ln>
          <a:effectLst>
            <a:outerShdw sx="100000" sy="100000" kx="0" ky="0" algn="bl" rotWithShape="0" blurRad="190500" dist="12700" dir="16200000">
              <a:srgbClr val="2FE07F">
                <a:alpha val="7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1567160" y="7216170"/>
            <a:ext cx="152430" cy="152430"/>
          </a:xfrm>
          <a:prstGeom prst="ellipse">
            <a:avLst/>
          </a:prstGeom>
          <a:solidFill>
            <a:srgbClr val="07090B"/>
          </a:solidFill>
          <a:ln w="38100">
            <a:solidFill>
              <a:srgbClr val="2FE07F"/>
            </a:solidFill>
            <a:prstDash val="solid"/>
          </a:ln>
          <a:effectLst>
            <a:outerShdw sx="100000" sy="100000" kx="0" ky="0" algn="bl" rotWithShape="0" blurRad="190500" dist="12700" dir="16200000">
              <a:srgbClr val="2FE07F">
                <a:alpha val="70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证词之外 · AI短剧项目分享</dc:title>
  <dc:subject>Editable PPTX export</dc:subject>
  <dc:creator>DashiAI PPT</dc:creator>
  <cp:lastModifiedBy>DashiAI PPT</cp:lastModifiedBy>
  <cp:revision>1</cp:revision>
  <dcterms:created xsi:type="dcterms:W3CDTF">2026-07-16T07:02:14Z</dcterms:created>
  <dcterms:modified xsi:type="dcterms:W3CDTF">2026-07-16T07:02:14Z</dcterms:modified>
</cp:coreProperties>
</file>