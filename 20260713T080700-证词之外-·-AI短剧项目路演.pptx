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99" y="0"/>
            <a:ext cx="10124603" cy="8229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4903" y="1916582"/>
            <a:ext cx="426750" cy="1527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199906" y="1790852"/>
            <a:ext cx="223040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3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原生悬疑短剧</a:t>
            </a:r>
            <a:endParaRPr lang="en-US" sz="1584" dirty="0"/>
          </a:p>
        </p:txBody>
      </p:sp>
      <p:sp>
        <p:nvSpPr>
          <p:cNvPr id="8" name="Shape 4"/>
          <p:cNvSpPr/>
          <p:nvPr/>
        </p:nvSpPr>
        <p:spPr>
          <a:xfrm>
            <a:off x="8348655" y="1916582"/>
            <a:ext cx="426750" cy="1527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032205" y="2256694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12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</a:t>
            </a:r>
            <a:endParaRPr lang="en-US" sz="4920" dirty="0"/>
          </a:p>
        </p:txBody>
      </p:sp>
      <p:sp>
        <p:nvSpPr>
          <p:cNvPr id="10" name="Text 6"/>
          <p:cNvSpPr/>
          <p:nvPr/>
        </p:nvSpPr>
        <p:spPr>
          <a:xfrm>
            <a:off x="4487509" y="2968441"/>
            <a:ext cx="5655473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12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 Testimony</a:t>
            </a:r>
            <a:endParaRPr lang="en-US" sz="4920" dirty="0"/>
          </a:p>
        </p:txBody>
      </p:sp>
      <p:sp>
        <p:nvSpPr>
          <p:cNvPr id="11" name="Shape 7"/>
          <p:cNvSpPr/>
          <p:nvPr/>
        </p:nvSpPr>
        <p:spPr>
          <a:xfrm>
            <a:off x="5943600" y="4018697"/>
            <a:ext cx="2743200" cy="15270"/>
          </a:xfrm>
          <a:prstGeom prst="rect">
            <a:avLst/>
          </a:prstGeom>
          <a:solidFill>
            <a:srgbClr val="2FE07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6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41872" y="4317979"/>
            <a:ext cx="7383048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当声音可以被复刻，真相还能被信任吗？一部完全由 AI 驱动生产的 5</a:t>
            </a:r>
            <a:endParaRPr lang="en-US" sz="1920" dirty="0"/>
          </a:p>
        </p:txBody>
      </p:sp>
      <p:sp>
        <p:nvSpPr>
          <p:cNvPr id="13" name="Text 9"/>
          <p:cNvSpPr/>
          <p:nvPr/>
        </p:nvSpPr>
        <p:spPr>
          <a:xfrm>
            <a:off x="6172200" y="4659325"/>
            <a:ext cx="228600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分钟冷调悬疑短片。</a:t>
            </a:r>
            <a:endParaRPr lang="en-US" sz="1920" dirty="0"/>
          </a:p>
        </p:txBody>
      </p:sp>
      <p:sp>
        <p:nvSpPr>
          <p:cNvPr id="14" name="Text 10"/>
          <p:cNvSpPr/>
          <p:nvPr/>
        </p:nvSpPr>
        <p:spPr>
          <a:xfrm>
            <a:off x="4596232" y="5352693"/>
            <a:ext cx="402336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921758" y="5592928"/>
            <a:ext cx="81198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440" spc="-9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分钟成片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4388891" y="5890108"/>
            <a:ext cx="15575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全年产业总投入</a:t>
            </a:r>
            <a:endParaRPr lang="en-US" sz="1584" dirty="0"/>
          </a:p>
        </p:txBody>
      </p:sp>
      <p:sp>
        <p:nvSpPr>
          <p:cNvPr id="17" name="Shape 13"/>
          <p:cNvSpPr/>
          <p:nvPr/>
        </p:nvSpPr>
        <p:spPr>
          <a:xfrm>
            <a:off x="6183996" y="5448178"/>
            <a:ext cx="7590" cy="67053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81724" y="5352693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7091675" y="5592928"/>
            <a:ext cx="63642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440" spc="-9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镜分镜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6438519" y="5890108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企业级渗透率</a:t>
            </a:r>
            <a:endParaRPr lang="en-US" sz="1584" dirty="0"/>
          </a:p>
        </p:txBody>
      </p:sp>
      <p:sp>
        <p:nvSpPr>
          <p:cNvPr id="21" name="Shape 17"/>
          <p:cNvSpPr/>
          <p:nvPr/>
        </p:nvSpPr>
        <p:spPr>
          <a:xfrm>
            <a:off x="8033827" y="5448178"/>
            <a:ext cx="7590" cy="67053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46277" y="5352693"/>
            <a:ext cx="1253277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9487220" y="5592928"/>
            <a:ext cx="75346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440" spc="-9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生成</a:t>
            </a:r>
            <a:endParaRPr lang="en-US" sz="1440" dirty="0"/>
          </a:p>
        </p:txBody>
      </p:sp>
      <p:sp>
        <p:nvSpPr>
          <p:cNvPr id="24" name="Text 20"/>
          <p:cNvSpPr/>
          <p:nvPr/>
        </p:nvSpPr>
        <p:spPr>
          <a:xfrm>
            <a:off x="8585896" y="5890108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核心结构分层</a:t>
            </a:r>
            <a:endParaRPr lang="en-US" sz="1584" dirty="0"/>
          </a:p>
        </p:txBody>
      </p:sp>
      <p:sp>
        <p:nvSpPr>
          <p:cNvPr id="25" name="Text 21"/>
          <p:cNvSpPr/>
          <p:nvPr/>
        </p:nvSpPr>
        <p:spPr>
          <a:xfrm>
            <a:off x="4127053" y="7284750"/>
            <a:ext cx="250225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编制 2026-06 · 季度刊</a:t>
            </a:r>
            <a:endParaRPr lang="en-US" sz="1584" dirty="0"/>
          </a:p>
        </p:txBody>
      </p:sp>
      <p:sp>
        <p:nvSpPr>
          <p:cNvPr id="26" name="Text 22"/>
          <p:cNvSpPr/>
          <p:nvPr/>
        </p:nvSpPr>
        <p:spPr>
          <a:xfrm>
            <a:off x="6672331" y="7280910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584" dirty="0"/>
          </a:p>
        </p:txBody>
      </p:sp>
      <p:sp>
        <p:nvSpPr>
          <p:cNvPr id="27" name="Text 23"/>
          <p:cNvSpPr/>
          <p:nvPr/>
        </p:nvSpPr>
        <p:spPr>
          <a:xfrm>
            <a:off x="6952366" y="7284750"/>
            <a:ext cx="18470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数据口径 公开披露</a:t>
            </a:r>
            <a:endParaRPr lang="en-US" sz="1584" dirty="0"/>
          </a:p>
        </p:txBody>
      </p:sp>
      <p:sp>
        <p:nvSpPr>
          <p:cNvPr id="28" name="Text 24"/>
          <p:cNvSpPr/>
          <p:nvPr/>
        </p:nvSpPr>
        <p:spPr>
          <a:xfrm>
            <a:off x="8859119" y="7280910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584" dirty="0"/>
          </a:p>
        </p:txBody>
      </p:sp>
      <p:sp>
        <p:nvSpPr>
          <p:cNvPr id="29" name="Text 25"/>
          <p:cNvSpPr/>
          <p:nvPr/>
        </p:nvSpPr>
        <p:spPr>
          <a:xfrm>
            <a:off x="9138742" y="7284750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仅供研究参考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今日议题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路演提纲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185166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AGENDA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955444"/>
            <a:ext cx="22763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 · 章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>
            <a:off x="822960" y="2237445"/>
            <a:ext cx="30358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节</a:t>
            </a:r>
            <a:endParaRPr lang="en-US" sz="1584" dirty="0"/>
          </a:p>
        </p:txBody>
      </p:sp>
      <p:sp>
        <p:nvSpPr>
          <p:cNvPr id="12" name="Text 9"/>
          <p:cNvSpPr/>
          <p:nvPr/>
        </p:nvSpPr>
        <p:spPr>
          <a:xfrm>
            <a:off x="822960" y="2461748"/>
            <a:ext cx="1572768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9000" b="1" spc="-200" kern="0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13" name="Text 10"/>
          <p:cNvSpPr/>
          <p:nvPr/>
        </p:nvSpPr>
        <p:spPr>
          <a:xfrm>
            <a:off x="2255550" y="3168807"/>
            <a:ext cx="32918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6636990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从项目背景到可持续生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6949440"/>
            <a:ext cx="18725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产力，完整拆解 AI 短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7261890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剧制作的全链路能力。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549" y="232075"/>
            <a:ext cx="8437900" cy="52002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93790" y="25552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20" dirty="0"/>
          </a:p>
        </p:txBody>
      </p:sp>
      <p:sp>
        <p:nvSpPr>
          <p:cNvPr id="19" name="Text 15"/>
          <p:cNvSpPr/>
          <p:nvPr/>
        </p:nvSpPr>
        <p:spPr>
          <a:xfrm>
            <a:off x="5093940" y="2545214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项目概述</a:t>
            </a:r>
            <a:endParaRPr lang="en-US" sz="1980" dirty="0"/>
          </a:p>
        </p:txBody>
      </p:sp>
      <p:sp>
        <p:nvSpPr>
          <p:cNvPr id="20" name="Text 16"/>
          <p:cNvSpPr/>
          <p:nvPr/>
        </p:nvSpPr>
        <p:spPr>
          <a:xfrm>
            <a:off x="5093940" y="2875879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《证词之外》的故事内核与创作野心</a:t>
            </a:r>
            <a:endParaRPr lang="en-US" sz="144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7340346" y="487101"/>
            <a:ext cx="7290054" cy="46902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52560" y="25552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20" dirty="0"/>
          </a:p>
        </p:txBody>
      </p:sp>
      <p:sp>
        <p:nvSpPr>
          <p:cNvPr id="23" name="Text 18"/>
          <p:cNvSpPr/>
          <p:nvPr/>
        </p:nvSpPr>
        <p:spPr>
          <a:xfrm>
            <a:off x="10252710" y="2545214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核心数据</a:t>
            </a:r>
            <a:endParaRPr lang="en-US" sz="1980" dirty="0"/>
          </a:p>
        </p:txBody>
      </p:sp>
      <p:sp>
        <p:nvSpPr>
          <p:cNvPr id="24" name="Text 19"/>
          <p:cNvSpPr/>
          <p:nvPr/>
        </p:nvSpPr>
        <p:spPr>
          <a:xfrm>
            <a:off x="10252710" y="2875879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规模、进度、技术指标一览</a:t>
            </a:r>
            <a:endParaRPr lang="en-US" sz="144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84000"/>
          </a:blip>
          <a:stretch>
            <a:fillRect/>
          </a:stretch>
        </p:blipFill>
        <p:spPr>
          <a:xfrm>
            <a:off x="2181667" y="2408347"/>
            <a:ext cx="7927757" cy="46902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93790" y="4476467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20" dirty="0"/>
          </a:p>
        </p:txBody>
      </p:sp>
      <p:sp>
        <p:nvSpPr>
          <p:cNvPr id="27" name="Text 21"/>
          <p:cNvSpPr/>
          <p:nvPr/>
        </p:nvSpPr>
        <p:spPr>
          <a:xfrm>
            <a:off x="5093940" y="446646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制作工作流</a:t>
            </a:r>
            <a:endParaRPr lang="en-US" sz="1980" dirty="0"/>
          </a:p>
        </p:txBody>
      </p:sp>
      <p:sp>
        <p:nvSpPr>
          <p:cNvPr id="28" name="Text 22"/>
          <p:cNvSpPr/>
          <p:nvPr/>
        </p:nvSpPr>
        <p:spPr>
          <a:xfrm>
            <a:off x="5093940" y="4797034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四层锁定架构：从角色到成片</a:t>
            </a:r>
            <a:endParaRPr lang="en-US" sz="144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>
            <a:alphaModFix amt="84000"/>
          </a:blip>
          <a:stretch>
            <a:fillRect/>
          </a:stretch>
        </p:blipFill>
        <p:spPr>
          <a:xfrm>
            <a:off x="7340346" y="2408347"/>
            <a:ext cx="7290054" cy="46902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52560" y="4476467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20" dirty="0"/>
          </a:p>
        </p:txBody>
      </p:sp>
      <p:sp>
        <p:nvSpPr>
          <p:cNvPr id="31" name="Text 24"/>
          <p:cNvSpPr/>
          <p:nvPr/>
        </p:nvSpPr>
        <p:spPr>
          <a:xfrm>
            <a:off x="10252710" y="446646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优势与挑战</a:t>
            </a:r>
            <a:endParaRPr lang="en-US" sz="1980" dirty="0"/>
          </a:p>
        </p:txBody>
      </p:sp>
      <p:sp>
        <p:nvSpPr>
          <p:cNvPr id="32" name="Text 25"/>
          <p:cNvSpPr/>
          <p:nvPr/>
        </p:nvSpPr>
        <p:spPr>
          <a:xfrm>
            <a:off x="10252710" y="4797034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原生制作的收益和当前瓶颈</a:t>
            </a:r>
            <a:endParaRPr lang="en-US" sz="144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>
            <a:alphaModFix amt="84000"/>
          </a:blip>
          <a:stretch>
            <a:fillRect/>
          </a:stretch>
        </p:blipFill>
        <p:spPr>
          <a:xfrm>
            <a:off x="2181667" y="4329501"/>
            <a:ext cx="7927757" cy="390009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893790" y="63976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20" dirty="0"/>
          </a:p>
        </p:txBody>
      </p:sp>
      <p:sp>
        <p:nvSpPr>
          <p:cNvPr id="35" name="Text 27"/>
          <p:cNvSpPr/>
          <p:nvPr/>
        </p:nvSpPr>
        <p:spPr>
          <a:xfrm>
            <a:off x="5093940" y="638761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可持续扩展</a:t>
            </a:r>
            <a:endParaRPr lang="en-US" sz="1980" dirty="0"/>
          </a:p>
        </p:txBody>
      </p:sp>
      <p:sp>
        <p:nvSpPr>
          <p:cNvPr id="36" name="Text 28"/>
          <p:cNvSpPr/>
          <p:nvPr/>
        </p:nvSpPr>
        <p:spPr>
          <a:xfrm>
            <a:off x="5093940" y="6718188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 工具链与多项目复用能力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项目概述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37256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SYNOPSIS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2311054"/>
            <a:ext cx="6705387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一部以 AI 语音合成犯罪为核心的冷调悬疑短片。周妍被林晚的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676814"/>
            <a:ext cx="6620256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遗留语音引回旧公寓，却一步步走进技术与空间精准设计的无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822960" y="3042574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痕陷阱。</a:t>
            </a:r>
            <a:endParaRPr lang="en-US" sz="19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309"/>
            <a:ext cx="3897356" cy="4180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9150" y="3736671"/>
            <a:ext cx="851002" cy="766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32"/>
              </a:lnSpc>
              <a:buNone/>
            </a:pPr>
            <a:r>
              <a:rPr lang="en-US" sz="4560" b="1" spc="-114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4560" dirty="0"/>
          </a:p>
        </p:txBody>
      </p:sp>
      <p:sp>
        <p:nvSpPr>
          <p:cNvPr id="15" name="Text 11"/>
          <p:cNvSpPr/>
          <p:nvPr/>
        </p:nvSpPr>
        <p:spPr>
          <a:xfrm>
            <a:off x="1830354" y="4069171"/>
            <a:ext cx="309872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642" spc="-114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镜</a:t>
            </a:r>
            <a:endParaRPr lang="en-US" sz="1642" dirty="0"/>
          </a:p>
        </p:txBody>
      </p:sp>
      <p:sp>
        <p:nvSpPr>
          <p:cNvPr id="16" name="Text 12"/>
          <p:cNvSpPr/>
          <p:nvPr/>
        </p:nvSpPr>
        <p:spPr>
          <a:xfrm>
            <a:off x="1059150" y="4405945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完整镜头设计</a:t>
            </a:r>
            <a:endParaRPr lang="en-US" sz="1584" dirty="0"/>
          </a:p>
        </p:txBody>
      </p:sp>
      <p:sp>
        <p:nvSpPr>
          <p:cNvPr id="17" name="Text 13"/>
          <p:cNvSpPr/>
          <p:nvPr/>
        </p:nvSpPr>
        <p:spPr>
          <a:xfrm>
            <a:off x="822960" y="5076474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60" dirty="0"/>
          </a:p>
        </p:txBody>
      </p:sp>
      <p:sp>
        <p:nvSpPr>
          <p:cNvPr id="18" name="Text 14"/>
          <p:cNvSpPr/>
          <p:nvPr/>
        </p:nvSpPr>
        <p:spPr>
          <a:xfrm>
            <a:off x="1295430" y="5085893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类型定位</a:t>
            </a:r>
            <a:endParaRPr lang="en-US" sz="1680" dirty="0"/>
          </a:p>
        </p:txBody>
      </p:sp>
      <p:sp>
        <p:nvSpPr>
          <p:cNvPr id="19" name="Text 15"/>
          <p:cNvSpPr/>
          <p:nvPr/>
        </p:nvSpPr>
        <p:spPr>
          <a:xfrm>
            <a:off x="1295430" y="5411785"/>
            <a:ext cx="3160075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分钟冷调悬疑，声音先于画面的惊悚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822960" y="581403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60" dirty="0"/>
          </a:p>
        </p:txBody>
      </p:sp>
      <p:sp>
        <p:nvSpPr>
          <p:cNvPr id="21" name="Text 17"/>
          <p:cNvSpPr/>
          <p:nvPr/>
        </p:nvSpPr>
        <p:spPr>
          <a:xfrm>
            <a:off x="1295430" y="5823539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技术叙事</a:t>
            </a:r>
            <a:endParaRPr lang="en-US" sz="1680" dirty="0"/>
          </a:p>
        </p:txBody>
      </p:sp>
      <p:sp>
        <p:nvSpPr>
          <p:cNvPr id="22" name="Text 18"/>
          <p:cNvSpPr/>
          <p:nvPr/>
        </p:nvSpPr>
        <p:spPr>
          <a:xfrm>
            <a:off x="1295430" y="6149340"/>
            <a:ext cx="30403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语音复刻作为犯罪工具的社会寓言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822960" y="6551676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60" dirty="0"/>
          </a:p>
        </p:txBody>
      </p:sp>
      <p:sp>
        <p:nvSpPr>
          <p:cNvPr id="24" name="Text 20"/>
          <p:cNvSpPr/>
          <p:nvPr/>
        </p:nvSpPr>
        <p:spPr>
          <a:xfrm>
            <a:off x="1295430" y="6561094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影像风格</a:t>
            </a:r>
            <a:endParaRPr lang="en-US" sz="1680" dirty="0"/>
          </a:p>
        </p:txBody>
      </p:sp>
      <p:sp>
        <p:nvSpPr>
          <p:cNvPr id="25" name="Text 21"/>
          <p:cNvSpPr/>
          <p:nvPr/>
        </p:nvSpPr>
        <p:spPr>
          <a:xfrm>
            <a:off x="1295430" y="6886895"/>
            <a:ext cx="265176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固定机位、极简动作、单一光源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制作规模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核心数据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08970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METRICS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1"/>
            <a:ext cx="5392674" cy="7788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9710" y="3874861"/>
            <a:ext cx="113934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创历史新高</a:t>
            </a:r>
            <a:endParaRPr lang="en-US" sz="1584" dirty="0"/>
          </a:p>
        </p:txBody>
      </p:sp>
      <p:sp>
        <p:nvSpPr>
          <p:cNvPr id="12" name="Text 8"/>
          <p:cNvSpPr/>
          <p:nvPr/>
        </p:nvSpPr>
        <p:spPr>
          <a:xfrm>
            <a:off x="1120140" y="4271591"/>
            <a:ext cx="1319174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440" dirty="0"/>
          </a:p>
        </p:txBody>
      </p:sp>
      <p:sp>
        <p:nvSpPr>
          <p:cNvPr id="13" name="Text 9"/>
          <p:cNvSpPr/>
          <p:nvPr/>
        </p:nvSpPr>
        <p:spPr>
          <a:xfrm>
            <a:off x="2326599" y="4837176"/>
            <a:ext cx="119823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完整镜头</a:t>
            </a:r>
            <a:endParaRPr lang="en-US" sz="2232" dirty="0"/>
          </a:p>
        </p:txBody>
      </p:sp>
      <p:sp>
        <p:nvSpPr>
          <p:cNvPr id="14" name="Text 10"/>
          <p:cNvSpPr/>
          <p:nvPr/>
        </p:nvSpPr>
        <p:spPr>
          <a:xfrm>
            <a:off x="1120140" y="5311932"/>
            <a:ext cx="16154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三幕结构逐镜设计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46" y="441381"/>
            <a:ext cx="6030377" cy="7788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41550" y="3874861"/>
            <a:ext cx="1876989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占全美 VC 近 1/3</a:t>
            </a:r>
            <a:endParaRPr lang="en-US" sz="1584" dirty="0"/>
          </a:p>
        </p:txBody>
      </p:sp>
      <p:sp>
        <p:nvSpPr>
          <p:cNvPr id="17" name="Text 12"/>
          <p:cNvSpPr/>
          <p:nvPr/>
        </p:nvSpPr>
        <p:spPr>
          <a:xfrm>
            <a:off x="4411980" y="4271591"/>
            <a:ext cx="714451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440" dirty="0"/>
          </a:p>
        </p:txBody>
      </p:sp>
      <p:sp>
        <p:nvSpPr>
          <p:cNvPr id="18" name="Text 13"/>
          <p:cNvSpPr/>
          <p:nvPr/>
        </p:nvSpPr>
        <p:spPr>
          <a:xfrm>
            <a:off x="5061021" y="4837176"/>
            <a:ext cx="1912559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套 Skill 工具</a:t>
            </a:r>
            <a:endParaRPr lang="en-US" sz="2232" dirty="0"/>
          </a:p>
        </p:txBody>
      </p:sp>
      <p:sp>
        <p:nvSpPr>
          <p:cNvPr id="19" name="Text 14"/>
          <p:cNvSpPr/>
          <p:nvPr/>
        </p:nvSpPr>
        <p:spPr>
          <a:xfrm>
            <a:off x="4411980" y="5311932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编剧到视频全链路覆盖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86" y="441381"/>
            <a:ext cx="6030377" cy="77882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33390" y="3874861"/>
            <a:ext cx="1348466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头部高度追捧</a:t>
            </a:r>
            <a:endParaRPr lang="en-US" sz="1584" dirty="0"/>
          </a:p>
        </p:txBody>
      </p:sp>
      <p:sp>
        <p:nvSpPr>
          <p:cNvPr id="22" name="Text 16"/>
          <p:cNvSpPr/>
          <p:nvPr/>
        </p:nvSpPr>
        <p:spPr>
          <a:xfrm>
            <a:off x="7703820" y="4271591"/>
            <a:ext cx="714451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40" dirty="0"/>
          </a:p>
        </p:txBody>
      </p:sp>
      <p:sp>
        <p:nvSpPr>
          <p:cNvPr id="23" name="Text 17"/>
          <p:cNvSpPr/>
          <p:nvPr/>
        </p:nvSpPr>
        <p:spPr>
          <a:xfrm>
            <a:off x="8352861" y="4837176"/>
            <a:ext cx="119823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核心角色</a:t>
            </a:r>
            <a:endParaRPr lang="en-US" sz="2232" dirty="0"/>
          </a:p>
        </p:txBody>
      </p:sp>
      <p:sp>
        <p:nvSpPr>
          <p:cNvPr id="24" name="Text 18"/>
          <p:cNvSpPr/>
          <p:nvPr/>
        </p:nvSpPr>
        <p:spPr>
          <a:xfrm>
            <a:off x="7703820" y="5311932"/>
            <a:ext cx="2186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三视图参考板锁定一致性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7726" y="441381"/>
            <a:ext cx="5392674" cy="77882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25230" y="3874861"/>
            <a:ext cx="113934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地理护城河</a:t>
            </a:r>
            <a:endParaRPr lang="en-US" sz="1584" dirty="0"/>
          </a:p>
        </p:txBody>
      </p:sp>
      <p:sp>
        <p:nvSpPr>
          <p:cNvPr id="27" name="Text 20"/>
          <p:cNvSpPr/>
          <p:nvPr/>
        </p:nvSpPr>
        <p:spPr>
          <a:xfrm>
            <a:off x="10995660" y="4271591"/>
            <a:ext cx="1319174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440" dirty="0"/>
          </a:p>
        </p:txBody>
      </p:sp>
      <p:sp>
        <p:nvSpPr>
          <p:cNvPr id="28" name="Text 21"/>
          <p:cNvSpPr/>
          <p:nvPr/>
        </p:nvSpPr>
        <p:spPr>
          <a:xfrm>
            <a:off x="12202119" y="4837176"/>
            <a:ext cx="119823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镜测试包</a:t>
            </a:r>
            <a:endParaRPr lang="en-US" sz="2232" dirty="0"/>
          </a:p>
        </p:txBody>
      </p:sp>
      <p:sp>
        <p:nvSpPr>
          <p:cNvPr id="29" name="Text 22"/>
          <p:cNvSpPr/>
          <p:nvPr/>
        </p:nvSpPr>
        <p:spPr>
          <a:xfrm>
            <a:off x="10995660" y="5311932"/>
            <a:ext cx="2186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先验证再批量的稳定策略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剧情展示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关键场景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796845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SCENES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88"/>
            <a:ext cx="8978494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307 旧公寓到 29 楼设备间再到高层露台，空间链路驱动悬疑递进。后续可替换为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00834"/>
            <a:ext cx="179835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实际视频片段。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46000"/>
          </a:blip>
          <a:stretch>
            <a:fillRect/>
          </a:stretch>
        </p:blipFill>
        <p:spPr>
          <a:xfrm>
            <a:off x="0" y="1291773"/>
            <a:ext cx="5358384" cy="69378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771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357884" y="4643780"/>
            <a:ext cx="72882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</a:t>
            </a:r>
            <a:endParaRPr lang="en-US" sz="1452" dirty="0"/>
          </a:p>
        </p:txBody>
      </p:sp>
      <p:sp>
        <p:nvSpPr>
          <p:cNvPr id="15" name="Text 11"/>
          <p:cNvSpPr/>
          <p:nvPr/>
        </p:nvSpPr>
        <p:spPr>
          <a:xfrm>
            <a:off x="967710" y="497340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307 语音触发</a:t>
            </a:r>
            <a:endParaRPr lang="en-US" sz="2280" dirty="0"/>
          </a:p>
        </p:txBody>
      </p:sp>
      <p:sp>
        <p:nvSpPr>
          <p:cNvPr id="16" name="Text 12"/>
          <p:cNvSpPr/>
          <p:nvPr/>
        </p:nvSpPr>
        <p:spPr>
          <a:xfrm>
            <a:off x="967710" y="5380512"/>
            <a:ext cx="2881427" cy="314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280 亿 · 估值 600 亿美元</a:t>
            </a:r>
            <a:endParaRPr lang="en-US" sz="156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>
            <a:off x="2665476" y="1291773"/>
            <a:ext cx="5996087" cy="69378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7098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61154" y="4643780"/>
            <a:ext cx="72882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</a:t>
            </a:r>
            <a:endParaRPr lang="en-US" sz="1452" dirty="0"/>
          </a:p>
        </p:txBody>
      </p:sp>
      <p:sp>
        <p:nvSpPr>
          <p:cNvPr id="20" name="Text 15"/>
          <p:cNvSpPr/>
          <p:nvPr/>
        </p:nvSpPr>
        <p:spPr>
          <a:xfrm>
            <a:off x="4270980" y="497340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设备间真相</a:t>
            </a:r>
            <a:endParaRPr lang="en-US" sz="2280" dirty="0"/>
          </a:p>
        </p:txBody>
      </p:sp>
      <p:sp>
        <p:nvSpPr>
          <p:cNvPr id="21" name="Text 16"/>
          <p:cNvSpPr/>
          <p:nvPr/>
        </p:nvSpPr>
        <p:spPr>
          <a:xfrm>
            <a:off x="4270980" y="5380512"/>
            <a:ext cx="2881427" cy="314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180 亿 · 估值 830 亿美元</a:t>
            </a:r>
            <a:endParaRPr lang="en-US" sz="156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720" y="1036747"/>
            <a:ext cx="6506230" cy="719285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4250" y="4473519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A8F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964424" y="4500220"/>
            <a:ext cx="72882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A8F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3</a:t>
            </a:r>
            <a:endParaRPr lang="en-US" sz="1452" dirty="0"/>
          </a:p>
        </p:txBody>
      </p:sp>
      <p:sp>
        <p:nvSpPr>
          <p:cNvPr id="25" name="Text 19"/>
          <p:cNvSpPr/>
          <p:nvPr/>
        </p:nvSpPr>
        <p:spPr>
          <a:xfrm>
            <a:off x="7574250" y="4829847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露台陷阱</a:t>
            </a:r>
            <a:endParaRPr lang="en-US" sz="2280" dirty="0"/>
          </a:p>
        </p:txBody>
      </p:sp>
      <p:sp>
        <p:nvSpPr>
          <p:cNvPr id="26" name="Text 20"/>
          <p:cNvSpPr/>
          <p:nvPr/>
        </p:nvSpPr>
        <p:spPr>
          <a:xfrm>
            <a:off x="7574250" y="5236952"/>
            <a:ext cx="281802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 190 亿 · 估值 9650 亿美</a:t>
            </a:r>
            <a:endParaRPr lang="en-US" sz="1560" dirty="0"/>
          </a:p>
        </p:txBody>
      </p:sp>
      <p:sp>
        <p:nvSpPr>
          <p:cNvPr id="27" name="Text 21"/>
          <p:cNvSpPr/>
          <p:nvPr/>
        </p:nvSpPr>
        <p:spPr>
          <a:xfrm>
            <a:off x="7574250" y="5524165"/>
            <a:ext cx="2999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元</a:t>
            </a:r>
            <a:endParaRPr lang="en-US" sz="156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>
            <a:alphaModFix amt="46000"/>
          </a:blip>
          <a:stretch>
            <a:fillRect/>
          </a:stretch>
        </p:blipFill>
        <p:spPr>
          <a:xfrm>
            <a:off x="9272016" y="1291773"/>
            <a:ext cx="5358384" cy="693782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87752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11267694" y="4643780"/>
            <a:ext cx="92785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ENDING</a:t>
            </a:r>
            <a:endParaRPr lang="en-US" sz="1452" dirty="0"/>
          </a:p>
        </p:txBody>
      </p:sp>
      <p:sp>
        <p:nvSpPr>
          <p:cNvPr id="31" name="Text 24"/>
          <p:cNvSpPr/>
          <p:nvPr/>
        </p:nvSpPr>
        <p:spPr>
          <a:xfrm>
            <a:off x="10877520" y="497340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监控室揭示</a:t>
            </a:r>
            <a:endParaRPr lang="en-US" sz="2280" dirty="0"/>
          </a:p>
        </p:txBody>
      </p:sp>
      <p:sp>
        <p:nvSpPr>
          <p:cNvPr id="32" name="Text 25"/>
          <p:cNvSpPr/>
          <p:nvPr/>
        </p:nvSpPr>
        <p:spPr>
          <a:xfrm>
            <a:off x="10877520" y="5380512"/>
            <a:ext cx="2876520" cy="314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已提交申请 · 预计年内上市</a:t>
            </a:r>
            <a:endParaRPr lang="en-US" sz="1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生产方法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四层锁定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63795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WORKFLOW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107442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60" dirty="0"/>
          </a:p>
        </p:txBody>
      </p:sp>
      <p:sp>
        <p:nvSpPr>
          <p:cNvPr id="13" name="Text 9"/>
          <p:cNvSpPr/>
          <p:nvPr/>
        </p:nvSpPr>
        <p:spPr>
          <a:xfrm>
            <a:off x="107442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角色参考板</a:t>
            </a:r>
            <a:endParaRPr lang="en-US" sz="2160" dirty="0"/>
          </a:p>
        </p:txBody>
      </p:sp>
      <p:sp>
        <p:nvSpPr>
          <p:cNvPr id="14" name="Text 10"/>
          <p:cNvSpPr/>
          <p:nvPr/>
        </p:nvSpPr>
        <p:spPr>
          <a:xfrm>
            <a:off x="1074420" y="3424611"/>
            <a:ext cx="2377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三视图锁定人物外观、服装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7442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和身材比例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17" name="Shape 13"/>
          <p:cNvSpPr/>
          <p:nvPr/>
        </p:nvSpPr>
        <p:spPr>
          <a:xfrm>
            <a:off x="422151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1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447297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60" dirty="0"/>
          </a:p>
        </p:txBody>
      </p:sp>
      <p:sp>
        <p:nvSpPr>
          <p:cNvPr id="20" name="Text 15"/>
          <p:cNvSpPr/>
          <p:nvPr/>
        </p:nvSpPr>
        <p:spPr>
          <a:xfrm>
            <a:off x="447297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场景锚点图</a:t>
            </a:r>
            <a:endParaRPr lang="en-US" sz="2160" dirty="0"/>
          </a:p>
        </p:txBody>
      </p:sp>
      <p:sp>
        <p:nvSpPr>
          <p:cNvPr id="21" name="Text 16"/>
          <p:cNvSpPr/>
          <p:nvPr/>
        </p:nvSpPr>
        <p:spPr>
          <a:xfrm>
            <a:off x="4472970" y="3424611"/>
            <a:ext cx="219785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关键空间一致性：307/电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2970" y="3710361"/>
            <a:ext cx="141655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梯/设备间/露台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4759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24" name="Shape 19"/>
          <p:cNvSpPr/>
          <p:nvPr/>
        </p:nvSpPr>
        <p:spPr>
          <a:xfrm>
            <a:off x="761997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7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Text 20"/>
          <p:cNvSpPr/>
          <p:nvPr/>
        </p:nvSpPr>
        <p:spPr>
          <a:xfrm>
            <a:off x="787143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60" dirty="0"/>
          </a:p>
        </p:txBody>
      </p:sp>
      <p:sp>
        <p:nvSpPr>
          <p:cNvPr id="27" name="Text 21"/>
          <p:cNvSpPr/>
          <p:nvPr/>
        </p:nvSpPr>
        <p:spPr>
          <a:xfrm>
            <a:off x="787143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12宫格分镜</a:t>
            </a:r>
            <a:endParaRPr lang="en-US" sz="2160" dirty="0"/>
          </a:p>
        </p:txBody>
      </p:sp>
      <p:sp>
        <p:nvSpPr>
          <p:cNvPr id="28" name="Text 22"/>
          <p:cNvSpPr/>
          <p:nvPr/>
        </p:nvSpPr>
        <p:spPr>
          <a:xfrm>
            <a:off x="7871430" y="3424611"/>
            <a:ext cx="2377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铅笔线稿锁定镜头推进和动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871430" y="3710361"/>
            <a:ext cx="6629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作势能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054605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31" name="Shape 25"/>
          <p:cNvSpPr/>
          <p:nvPr/>
        </p:nvSpPr>
        <p:spPr>
          <a:xfrm>
            <a:off x="1101852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6"/>
          <p:cNvSpPr/>
          <p:nvPr/>
        </p:nvSpPr>
        <p:spPr>
          <a:xfrm>
            <a:off x="1126998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760" dirty="0"/>
          </a:p>
        </p:txBody>
      </p:sp>
      <p:sp>
        <p:nvSpPr>
          <p:cNvPr id="34" name="Text 27"/>
          <p:cNvSpPr/>
          <p:nvPr/>
        </p:nvSpPr>
        <p:spPr>
          <a:xfrm>
            <a:off x="1126998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2160" dirty="0"/>
          </a:p>
        </p:txBody>
      </p:sp>
      <p:sp>
        <p:nvSpPr>
          <p:cNvPr id="35" name="Text 28"/>
          <p:cNvSpPr/>
          <p:nvPr/>
        </p:nvSpPr>
        <p:spPr>
          <a:xfrm>
            <a:off x="11269980" y="3424611"/>
            <a:ext cx="2377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参考图驱动，最后一层只负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1269980" y="3710361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责动起来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工具能力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77916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 工具链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164921" y="1065093"/>
            <a:ext cx="223113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TOOLS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88"/>
            <a:ext cx="8847552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六套可复用的 Agent Skill，覆盖从剧本创作到视频交付的完整链路，支持快速启动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00834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新项目。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61087"/>
            <a:ext cx="6655552" cy="48979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3268" y="6173937"/>
            <a:ext cx="513207" cy="328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713013" y="6192911"/>
            <a:ext cx="1078821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1860" dirty="0"/>
          </a:p>
        </p:txBody>
      </p:sp>
      <p:sp>
        <p:nvSpPr>
          <p:cNvPr id="15" name="Text 11"/>
          <p:cNvSpPr/>
          <p:nvPr/>
        </p:nvSpPr>
        <p:spPr>
          <a:xfrm>
            <a:off x="3004444" y="4810750"/>
            <a:ext cx="513207" cy="328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551621" y="4829723"/>
            <a:ext cx="1326261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分镜与资产</a:t>
            </a:r>
            <a:endParaRPr lang="en-US" sz="1860" dirty="0"/>
          </a:p>
        </p:txBody>
      </p:sp>
      <p:sp>
        <p:nvSpPr>
          <p:cNvPr id="17" name="Text 13"/>
          <p:cNvSpPr/>
          <p:nvPr/>
        </p:nvSpPr>
        <p:spPr>
          <a:xfrm>
            <a:off x="3192536" y="3447562"/>
            <a:ext cx="513207" cy="328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540282" y="3466536"/>
            <a:ext cx="1454410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编剧 Skill</a:t>
            </a:r>
            <a:endParaRPr lang="en-US" sz="186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508" y="1954804"/>
            <a:ext cx="8185892" cy="39596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41452" y="3721334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40" dirty="0"/>
          </a:p>
        </p:txBody>
      </p:sp>
      <p:sp>
        <p:nvSpPr>
          <p:cNvPr id="21" name="Text 16"/>
          <p:cNvSpPr/>
          <p:nvPr/>
        </p:nvSpPr>
        <p:spPr>
          <a:xfrm>
            <a:off x="8740110" y="3592952"/>
            <a:ext cx="1348435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编剧 Skill</a:t>
            </a:r>
            <a:endParaRPr lang="en-US" sz="1920" dirty="0"/>
          </a:p>
        </p:txBody>
      </p:sp>
      <p:sp>
        <p:nvSpPr>
          <p:cNvPr id="22" name="Text 17"/>
          <p:cNvSpPr/>
          <p:nvPr/>
        </p:nvSpPr>
        <p:spPr>
          <a:xfrm>
            <a:off x="10016155" y="3621298"/>
            <a:ext cx="61920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创作层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8740110" y="4002329"/>
            <a:ext cx="3723528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剧本撰写、Treatment 和角色圣经自动生成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508" y="3130174"/>
            <a:ext cx="8185892" cy="39596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41452" y="4896703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40" dirty="0"/>
          </a:p>
        </p:txBody>
      </p:sp>
      <p:sp>
        <p:nvSpPr>
          <p:cNvPr id="26" name="Text 20"/>
          <p:cNvSpPr/>
          <p:nvPr/>
        </p:nvSpPr>
        <p:spPr>
          <a:xfrm>
            <a:off x="8740110" y="4768321"/>
            <a:ext cx="131061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分镜与资产</a:t>
            </a:r>
            <a:endParaRPr lang="en-US" sz="1920" dirty="0"/>
          </a:p>
        </p:txBody>
      </p:sp>
      <p:sp>
        <p:nvSpPr>
          <p:cNvPr id="27" name="Text 21"/>
          <p:cNvSpPr/>
          <p:nvPr/>
        </p:nvSpPr>
        <p:spPr>
          <a:xfrm>
            <a:off x="10165110" y="4796668"/>
            <a:ext cx="61920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视觉层</a:t>
            </a:r>
            <a:endParaRPr lang="en-US" sz="1320" dirty="0"/>
          </a:p>
        </p:txBody>
      </p:sp>
      <p:sp>
        <p:nvSpPr>
          <p:cNvPr id="28" name="Text 22"/>
          <p:cNvSpPr/>
          <p:nvPr/>
        </p:nvSpPr>
        <p:spPr>
          <a:xfrm>
            <a:off x="8740110" y="5177699"/>
            <a:ext cx="3980017" cy="3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Shotlist Builder / Scene Board / Asset Canvas</a:t>
            </a:r>
            <a:endParaRPr lang="en-US" sz="15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508" y="4305635"/>
            <a:ext cx="8185892" cy="392396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41452" y="6072073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40" dirty="0"/>
          </a:p>
        </p:txBody>
      </p:sp>
      <p:sp>
        <p:nvSpPr>
          <p:cNvPr id="31" name="Text 24"/>
          <p:cNvSpPr/>
          <p:nvPr/>
        </p:nvSpPr>
        <p:spPr>
          <a:xfrm>
            <a:off x="8740110" y="5943691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1920" dirty="0"/>
          </a:p>
        </p:txBody>
      </p:sp>
      <p:sp>
        <p:nvSpPr>
          <p:cNvPr id="32" name="Text 25"/>
          <p:cNvSpPr/>
          <p:nvPr/>
        </p:nvSpPr>
        <p:spPr>
          <a:xfrm>
            <a:off x="9921240" y="5972038"/>
            <a:ext cx="61920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交付层</a:t>
            </a:r>
            <a:endParaRPr lang="en-US" sz="1320" dirty="0"/>
          </a:p>
        </p:txBody>
      </p:sp>
      <p:sp>
        <p:nvSpPr>
          <p:cNvPr id="33" name="Text 26"/>
          <p:cNvSpPr/>
          <p:nvPr/>
        </p:nvSpPr>
        <p:spPr>
          <a:xfrm>
            <a:off x="8740110" y="6353068"/>
            <a:ext cx="3630168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Seedance 2.0 提示词模板与批量回归测试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客观评估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优势与挑战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10753" y="1065093"/>
            <a:ext cx="289849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TRADE-OFFS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02135"/>
            <a:ext cx="6141750" cy="5656936"/>
          </a:xfrm>
          <a:prstGeom prst="roundRect">
            <a:avLst>
              <a:gd name="adj" fmla="val 49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2135"/>
            <a:ext cx="6141750" cy="5656936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1211580" y="2260305"/>
            <a:ext cx="1348008" cy="441930"/>
          </a:xfrm>
          <a:prstGeom prst="roundRect">
            <a:avLst>
              <a:gd name="adj" fmla="val 1259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FE07F"/>
            </a:solidFill>
            <a:prstDash val="solid"/>
          </a:ln>
          <a:effectLst>
            <a:outerShdw sx="100000" sy="100000" kx="0" ky="0" algn="bl" rotWithShape="0" blurRad="228600" dist="12700" dir="16200000">
              <a:srgbClr val="2FE07F">
                <a:alpha val="7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371600" y="238219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188" spc="225" kern="0" dirty="0">
                <a:solidFill>
                  <a:srgbClr val="2FE07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1188" dirty="0"/>
          </a:p>
        </p:txBody>
      </p:sp>
      <p:sp>
        <p:nvSpPr>
          <p:cNvPr id="14" name="Text 10"/>
          <p:cNvSpPr/>
          <p:nvPr/>
        </p:nvSpPr>
        <p:spPr>
          <a:xfrm>
            <a:off x="1546159" y="2344064"/>
            <a:ext cx="1064419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核心优势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211580" y="2834136"/>
            <a:ext cx="1841297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44"/>
              </a:lnSpc>
              <a:buNone/>
            </a:pPr>
            <a:r>
              <a:rPr lang="en-US" sz="5520" b="1" spc="-138" kern="0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63.9</a:t>
            </a:r>
            <a:endParaRPr lang="en-US" sz="5520" dirty="0"/>
          </a:p>
        </p:txBody>
      </p:sp>
      <p:sp>
        <p:nvSpPr>
          <p:cNvPr id="16" name="Text 12"/>
          <p:cNvSpPr/>
          <p:nvPr/>
        </p:nvSpPr>
        <p:spPr>
          <a:xfrm>
            <a:off x="2736891" y="3266145"/>
            <a:ext cx="249083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78"/>
              </a:lnSpc>
              <a:buNone/>
            </a:pPr>
            <a:r>
              <a:rPr lang="en-US" sz="1766" spc="-138" kern="0" dirty="0">
                <a:solidFill>
                  <a:srgbClr val="EEF3F1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766" dirty="0"/>
          </a:p>
        </p:txBody>
      </p:sp>
      <p:sp>
        <p:nvSpPr>
          <p:cNvPr id="17" name="Text 13"/>
          <p:cNvSpPr/>
          <p:nvPr/>
        </p:nvSpPr>
        <p:spPr>
          <a:xfrm>
            <a:off x="1211580" y="3589111"/>
            <a:ext cx="164399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2"/>
              </a:lnSpc>
              <a:buNone/>
            </a:pPr>
            <a:r>
              <a:rPr lang="en-US" sz="1518" spc="35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资金流向头部湾区</a:t>
            </a:r>
            <a:endParaRPr lang="en-US" sz="1518" dirty="0"/>
          </a:p>
        </p:txBody>
      </p:sp>
      <p:sp>
        <p:nvSpPr>
          <p:cNvPr id="18" name="Shape 14"/>
          <p:cNvSpPr/>
          <p:nvPr/>
        </p:nvSpPr>
        <p:spPr>
          <a:xfrm>
            <a:off x="1211580" y="4121384"/>
            <a:ext cx="76170" cy="7617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2FE07F">
                <a:alpha val="7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409730" y="4022263"/>
            <a:ext cx="304367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零拍摄成本，全流程 AI 原生生产</a:t>
            </a:r>
            <a:endParaRPr lang="en-US" sz="1620" dirty="0"/>
          </a:p>
        </p:txBody>
      </p:sp>
      <p:sp>
        <p:nvSpPr>
          <p:cNvPr id="20" name="Shape 16"/>
          <p:cNvSpPr/>
          <p:nvPr/>
        </p:nvSpPr>
        <p:spPr>
          <a:xfrm>
            <a:off x="1211580" y="4574012"/>
            <a:ext cx="76170" cy="7617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2FE07F">
                <a:alpha val="7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409730" y="4474982"/>
            <a:ext cx="344065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 工具链可复用，新项目启动极快</a:t>
            </a:r>
            <a:endParaRPr lang="en-US" sz="1620" dirty="0"/>
          </a:p>
        </p:txBody>
      </p:sp>
      <p:sp>
        <p:nvSpPr>
          <p:cNvPr id="22" name="Shape 18"/>
          <p:cNvSpPr/>
          <p:nvPr/>
        </p:nvSpPr>
        <p:spPr>
          <a:xfrm>
            <a:off x="1211580" y="5026731"/>
            <a:ext cx="76170" cy="7617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2FE07F">
                <a:alpha val="7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409730" y="4927610"/>
            <a:ext cx="2971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四层锁定架构显著降低抽卡失控</a:t>
            </a:r>
            <a:endParaRPr lang="en-US" sz="1620" dirty="0"/>
          </a:p>
        </p:txBody>
      </p:sp>
      <p:sp>
        <p:nvSpPr>
          <p:cNvPr id="24" name="Shape 20"/>
          <p:cNvSpPr/>
          <p:nvPr/>
        </p:nvSpPr>
        <p:spPr>
          <a:xfrm>
            <a:off x="7665690" y="1902135"/>
            <a:ext cx="6141750" cy="5656936"/>
          </a:xfrm>
          <a:prstGeom prst="roundRect">
            <a:avLst>
              <a:gd name="adj" fmla="val 49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690" y="1902135"/>
            <a:ext cx="6141750" cy="5656936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Shape 21"/>
          <p:cNvSpPr/>
          <p:nvPr/>
        </p:nvSpPr>
        <p:spPr>
          <a:xfrm>
            <a:off x="12070812" y="2260305"/>
            <a:ext cx="1348008" cy="441930"/>
          </a:xfrm>
          <a:prstGeom prst="roundRect">
            <a:avLst>
              <a:gd name="adj" fmla="val 1259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4EA2FF"/>
            </a:solidFill>
            <a:prstDash val="solid"/>
          </a:ln>
          <a:effectLst>
            <a:outerShdw sx="100000" sy="100000" kx="0" ky="0" algn="bl" rotWithShape="0" blurRad="228600" dist="12700" dir="16200000">
              <a:srgbClr val="4EA2FF">
                <a:alpha val="7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12230832" y="238219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188" spc="225" kern="0" dirty="0">
                <a:solidFill>
                  <a:srgbClr val="4EA2F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188" dirty="0"/>
          </a:p>
        </p:txBody>
      </p:sp>
      <p:sp>
        <p:nvSpPr>
          <p:cNvPr id="28" name="Text 23"/>
          <p:cNvSpPr/>
          <p:nvPr/>
        </p:nvSpPr>
        <p:spPr>
          <a:xfrm>
            <a:off x="12405390" y="2344064"/>
            <a:ext cx="1064419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4E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当前挑战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1231209" y="2834136"/>
            <a:ext cx="1619768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5244"/>
              </a:lnSpc>
              <a:buNone/>
            </a:pPr>
            <a:r>
              <a:rPr lang="en-US" sz="5520" b="1" spc="-138" kern="0" dirty="0">
                <a:solidFill>
                  <a:srgbClr val="4E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≈10</a:t>
            </a:r>
            <a:endParaRPr lang="en-US" sz="5520" dirty="0"/>
          </a:p>
        </p:txBody>
      </p:sp>
      <p:sp>
        <p:nvSpPr>
          <p:cNvPr id="30" name="Text 25"/>
          <p:cNvSpPr/>
          <p:nvPr/>
        </p:nvSpPr>
        <p:spPr>
          <a:xfrm>
            <a:off x="12754990" y="3267883"/>
            <a:ext cx="6638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678"/>
              </a:lnSpc>
              <a:buNone/>
            </a:pPr>
            <a:r>
              <a:rPr lang="en-US" sz="1766" spc="-138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亿/笔</a:t>
            </a:r>
            <a:endParaRPr lang="en-US" sz="1766" dirty="0"/>
          </a:p>
        </p:txBody>
      </p:sp>
      <p:sp>
        <p:nvSpPr>
          <p:cNvPr id="31" name="Text 26"/>
          <p:cNvSpPr/>
          <p:nvPr/>
        </p:nvSpPr>
        <p:spPr>
          <a:xfrm>
            <a:off x="11774822" y="3589111"/>
            <a:ext cx="164399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42"/>
              </a:lnSpc>
              <a:buNone/>
            </a:pPr>
            <a:r>
              <a:rPr lang="en-US" sz="1518" spc="35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平均单笔估值门槛</a:t>
            </a:r>
            <a:endParaRPr lang="en-US" sz="1518" dirty="0"/>
          </a:p>
        </p:txBody>
      </p:sp>
      <p:sp>
        <p:nvSpPr>
          <p:cNvPr id="32" name="Shape 27"/>
          <p:cNvSpPr/>
          <p:nvPr/>
        </p:nvSpPr>
        <p:spPr>
          <a:xfrm>
            <a:off x="13342650" y="4121384"/>
            <a:ext cx="76170" cy="7617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10248870" y="4022263"/>
            <a:ext cx="2971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角色一致性仍需反复校准参考板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3342650" y="4574012"/>
            <a:ext cx="76170" cy="7617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10248870" y="4474982"/>
            <a:ext cx="2971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动态表演细腻度受限于当前模型</a:t>
            </a:r>
            <a:endParaRPr lang="en-US" sz="1620" dirty="0"/>
          </a:p>
        </p:txBody>
      </p:sp>
      <p:sp>
        <p:nvSpPr>
          <p:cNvPr id="36" name="Shape 31"/>
          <p:cNvSpPr/>
          <p:nvPr/>
        </p:nvSpPr>
        <p:spPr>
          <a:xfrm>
            <a:off x="13342650" y="5026731"/>
            <a:ext cx="76170" cy="7617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10248870" y="4927610"/>
            <a:ext cx="2971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长镜头连续动作的稳定性待突破</a:t>
            </a:r>
            <a:endParaRPr lang="en-US" sz="1620" dirty="0"/>
          </a:p>
        </p:txBody>
      </p:sp>
      <p:sp>
        <p:nvSpPr>
          <p:cNvPr id="38" name="Shape 33"/>
          <p:cNvSpPr/>
          <p:nvPr/>
        </p:nvSpPr>
        <p:spPr>
          <a:xfrm>
            <a:off x="6949440" y="4364797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364797"/>
            <a:ext cx="731520" cy="731520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07090B">
                <a:alpha val="70000"/>
              </a:srgbClr>
            </a:outerShdw>
          </a:effectLst>
        </p:spPr>
      </p:pic>
      <p:sp>
        <p:nvSpPr>
          <p:cNvPr id="40" name="Text 34"/>
          <p:cNvSpPr/>
          <p:nvPr/>
        </p:nvSpPr>
        <p:spPr>
          <a:xfrm>
            <a:off x="7127565" y="4547677"/>
            <a:ext cx="505701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spc="114" kern="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已有成果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制作实例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52511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SHOWCASE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1752"/>
            <a:ext cx="918057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以下为已完成的资产和视频片段预览位。可在编辑器中直接替换为实际素材。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822960" y="2365370"/>
            <a:ext cx="6408390" cy="5193609"/>
          </a:xfrm>
          <a:prstGeom prst="roundRect">
            <a:avLst>
              <a:gd name="adj" fmla="val 40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65370"/>
            <a:ext cx="6408390" cy="51936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1436" y="4828855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场景锚点图</a:t>
            </a:r>
            <a:endParaRPr lang="en-US" sz="1584" dirty="0"/>
          </a:p>
        </p:txBody>
      </p:sp>
      <p:sp>
        <p:nvSpPr>
          <p:cNvPr id="14" name="Shape 10"/>
          <p:cNvSpPr/>
          <p:nvPr/>
        </p:nvSpPr>
        <p:spPr>
          <a:xfrm>
            <a:off x="7399050" y="2365370"/>
            <a:ext cx="6408390" cy="5193609"/>
          </a:xfrm>
          <a:prstGeom prst="roundRect">
            <a:avLst>
              <a:gd name="adj" fmla="val 40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2365370"/>
            <a:ext cx="6408390" cy="51936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17526" y="4828855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角色参考板</a:t>
            </a:r>
            <a:endParaRPr lang="en-US" sz="15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未来规划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可持续路线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10753" y="1065093"/>
            <a:ext cx="224860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ROADMAP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88"/>
            <a:ext cx="8897844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完成《证词之外》验证后，Skill 工具链可直接迁移到更多短剧项目，实现规模化 AI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00834"/>
            <a:ext cx="131061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内容生产。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2222"/>
            <a:ext cx="6459413" cy="69073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04870" y="3064886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当前阶段</a:t>
            </a:r>
            <a:endParaRPr lang="en-US" sz="1584" dirty="0"/>
          </a:p>
        </p:txBody>
      </p:sp>
      <p:sp>
        <p:nvSpPr>
          <p:cNvPr id="14" name="Text 10"/>
          <p:cNvSpPr/>
          <p:nvPr/>
        </p:nvSpPr>
        <p:spPr>
          <a:xfrm>
            <a:off x="4433286" y="3049707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104870" y="3486159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证词之外交付</a:t>
            </a:r>
            <a:endParaRPr lang="en-US" sz="2520" dirty="0"/>
          </a:p>
        </p:txBody>
      </p:sp>
      <p:sp>
        <p:nvSpPr>
          <p:cNvPr id="16" name="Text 12"/>
          <p:cNvSpPr/>
          <p:nvPr/>
        </p:nvSpPr>
        <p:spPr>
          <a:xfrm>
            <a:off x="1104870" y="3975080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72 镜全片完成、工作流验证闭环</a:t>
            </a:r>
            <a:endParaRPr lang="en-US" sz="168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596" y="1322222"/>
            <a:ext cx="7097207" cy="69073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09260" y="3064886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第二阶段</a:t>
            </a:r>
            <a:endParaRPr lang="en-US" sz="1584" dirty="0"/>
          </a:p>
        </p:txBody>
      </p:sp>
      <p:sp>
        <p:nvSpPr>
          <p:cNvPr id="19" name="Text 14"/>
          <p:cNvSpPr/>
          <p:nvPr/>
        </p:nvSpPr>
        <p:spPr>
          <a:xfrm>
            <a:off x="8837676" y="3049707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509260" y="3486159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多项目复用</a:t>
            </a:r>
            <a:endParaRPr lang="en-US" sz="2520" dirty="0"/>
          </a:p>
        </p:txBody>
      </p:sp>
      <p:sp>
        <p:nvSpPr>
          <p:cNvPr id="21" name="Text 16"/>
          <p:cNvSpPr/>
          <p:nvPr/>
        </p:nvSpPr>
        <p:spPr>
          <a:xfrm>
            <a:off x="5509260" y="3975080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身体小队等新项目直接调用 Skill 链</a:t>
            </a:r>
            <a:endParaRPr lang="en-US" sz="16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987" y="1322222"/>
            <a:ext cx="6459413" cy="690737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13650" y="3064886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远期目标</a:t>
            </a:r>
            <a:endParaRPr lang="en-US" sz="1584" dirty="0"/>
          </a:p>
        </p:txBody>
      </p:sp>
      <p:sp>
        <p:nvSpPr>
          <p:cNvPr id="24" name="Text 18"/>
          <p:cNvSpPr/>
          <p:nvPr/>
        </p:nvSpPr>
        <p:spPr>
          <a:xfrm>
            <a:off x="13241975" y="3049707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913650" y="3486159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规模化生产</a:t>
            </a:r>
            <a:endParaRPr lang="en-US" sz="2520" dirty="0"/>
          </a:p>
        </p:txBody>
      </p:sp>
      <p:sp>
        <p:nvSpPr>
          <p:cNvPr id="26" name="Text 20"/>
          <p:cNvSpPr/>
          <p:nvPr/>
        </p:nvSpPr>
        <p:spPr>
          <a:xfrm>
            <a:off x="9913650" y="3975080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标准化 AI 短剧工厂，周更节奏</a:t>
            </a:r>
            <a:endParaRPr lang="en-US" sz="1680" dirty="0"/>
          </a:p>
        </p:txBody>
      </p:sp>
      <p:sp>
        <p:nvSpPr>
          <p:cNvPr id="27" name="Shape 21"/>
          <p:cNvSpPr/>
          <p:nvPr/>
        </p:nvSpPr>
        <p:spPr>
          <a:xfrm>
            <a:off x="2986888" y="7277070"/>
            <a:ext cx="8656533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7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91081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3903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156716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/ 73</a:t>
            </a:r>
            <a:endParaRPr lang="en-US" sz="1584" dirty="0"/>
          </a:p>
        </p:txBody>
      </p:sp>
      <p:sp>
        <p:nvSpPr>
          <p:cNvPr id="6" name="Shape 3"/>
          <p:cNvSpPr/>
          <p:nvPr/>
        </p:nvSpPr>
        <p:spPr>
          <a:xfrm>
            <a:off x="937260" y="670530"/>
            <a:ext cx="22860" cy="3461278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 rot="10800000">
            <a:off x="822960" y="4268968"/>
            <a:ext cx="288036" cy="96496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452" spc="52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</a:t>
            </a:r>
            <a:endParaRPr lang="en-US" sz="1452" dirty="0"/>
          </a:p>
        </p:txBody>
      </p:sp>
      <p:sp>
        <p:nvSpPr>
          <p:cNvPr id="8" name="Shape 5"/>
          <p:cNvSpPr/>
          <p:nvPr/>
        </p:nvSpPr>
        <p:spPr>
          <a:xfrm>
            <a:off x="127257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72570" y="670530"/>
            <a:ext cx="496821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加入我们</a:t>
            </a:r>
            <a:endParaRPr lang="en-US" sz="1584" dirty="0"/>
          </a:p>
        </p:txBody>
      </p:sp>
      <p:sp>
        <p:nvSpPr>
          <p:cNvPr id="10" name="Text 7"/>
          <p:cNvSpPr/>
          <p:nvPr/>
        </p:nvSpPr>
        <p:spPr>
          <a:xfrm>
            <a:off x="1272570" y="1059059"/>
            <a:ext cx="2373234" cy="865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97"/>
              </a:lnSpc>
              <a:buNone/>
            </a:pPr>
            <a:r>
              <a:rPr lang="en-US" sz="4560" b="1" spc="-85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一起创造</a:t>
            </a:r>
            <a:endParaRPr lang="en-US" sz="4560" dirty="0"/>
          </a:p>
        </p:txBody>
      </p:sp>
      <p:sp>
        <p:nvSpPr>
          <p:cNvPr id="11" name="Text 8"/>
          <p:cNvSpPr/>
          <p:nvPr/>
        </p:nvSpPr>
        <p:spPr>
          <a:xfrm>
            <a:off x="3554364" y="1081691"/>
            <a:ext cx="2518867" cy="865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97"/>
              </a:lnSpc>
              <a:buNone/>
            </a:pPr>
            <a:r>
              <a:rPr lang="en-US" sz="4560" b="1" spc="-85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JOIN US</a:t>
            </a:r>
            <a:endParaRPr lang="en-US" sz="4560" dirty="0"/>
          </a:p>
        </p:txBody>
      </p:sp>
      <p:sp>
        <p:nvSpPr>
          <p:cNvPr id="12" name="Text 9"/>
          <p:cNvSpPr/>
          <p:nvPr/>
        </p:nvSpPr>
        <p:spPr>
          <a:xfrm>
            <a:off x="1272570" y="1985345"/>
            <a:ext cx="47548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短剧不是未来，是现在。我们正在用工具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1272570" y="2351105"/>
            <a:ext cx="4776917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链证明：一个人加一套 Skill，就能持续产出</a:t>
            </a:r>
            <a:endParaRPr lang="en-US" sz="1920" dirty="0"/>
          </a:p>
        </p:txBody>
      </p:sp>
      <p:sp>
        <p:nvSpPr>
          <p:cNvPr id="14" name="Text 11"/>
          <p:cNvSpPr/>
          <p:nvPr/>
        </p:nvSpPr>
        <p:spPr>
          <a:xfrm>
            <a:off x="1272570" y="2716865"/>
            <a:ext cx="15544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院线级短片。</a:t>
            </a:r>
            <a:endParaRPr lang="en-US" sz="192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508"/>
            <a:ext cx="6117702" cy="42092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4030" y="3412678"/>
            <a:ext cx="128016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b="1" spc="-120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4800" dirty="0"/>
          </a:p>
        </p:txBody>
      </p:sp>
      <p:sp>
        <p:nvSpPr>
          <p:cNvPr id="17" name="Text 13"/>
          <p:cNvSpPr/>
          <p:nvPr/>
        </p:nvSpPr>
        <p:spPr>
          <a:xfrm>
            <a:off x="2697480" y="3767968"/>
            <a:ext cx="74176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42"/>
              </a:lnSpc>
              <a:buNone/>
            </a:pPr>
            <a:r>
              <a:rPr lang="en-US" sz="1728" spc="-12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亿美元</a:t>
            </a:r>
            <a:endParaRPr lang="en-US" sz="1728" dirty="0"/>
          </a:p>
        </p:txBody>
      </p:sp>
      <p:sp>
        <p:nvSpPr>
          <p:cNvPr id="18" name="Text 14"/>
          <p:cNvSpPr/>
          <p:nvPr/>
        </p:nvSpPr>
        <p:spPr>
          <a:xfrm>
            <a:off x="1524030" y="4109222"/>
            <a:ext cx="309935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 年融资 · 估值超 190 亿</a:t>
            </a:r>
            <a:endParaRPr lang="en-US" sz="1584" dirty="0"/>
          </a:p>
        </p:txBody>
      </p:sp>
      <p:sp>
        <p:nvSpPr>
          <p:cNvPr id="19" name="Shape 15"/>
          <p:cNvSpPr/>
          <p:nvPr/>
        </p:nvSpPr>
        <p:spPr>
          <a:xfrm>
            <a:off x="1272570" y="4787341"/>
            <a:ext cx="860268" cy="419070"/>
          </a:xfrm>
          <a:prstGeom prst="roundRect">
            <a:avLst>
              <a:gd name="adj" fmla="val 1327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417320" y="4787341"/>
            <a:ext cx="721096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算力云</a:t>
            </a:r>
            <a:endParaRPr lang="en-US" sz="1584" dirty="0"/>
          </a:p>
        </p:txBody>
      </p:sp>
      <p:sp>
        <p:nvSpPr>
          <p:cNvPr id="21" name="Shape 17"/>
          <p:cNvSpPr/>
          <p:nvPr/>
        </p:nvSpPr>
        <p:spPr>
          <a:xfrm>
            <a:off x="2224187" y="4787341"/>
            <a:ext cx="1504737" cy="419070"/>
          </a:xfrm>
          <a:prstGeom prst="roundRect">
            <a:avLst>
              <a:gd name="adj" fmla="val 1327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69028" y="4787341"/>
            <a:ext cx="1460845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长约</a:t>
            </a:r>
            <a:endParaRPr lang="en-US" sz="1584" dirty="0"/>
          </a:p>
        </p:txBody>
      </p:sp>
      <p:sp>
        <p:nvSpPr>
          <p:cNvPr id="23" name="Shape 19"/>
          <p:cNvSpPr/>
          <p:nvPr/>
        </p:nvSpPr>
        <p:spPr>
          <a:xfrm>
            <a:off x="3820363" y="4787341"/>
            <a:ext cx="1601297" cy="419070"/>
          </a:xfrm>
          <a:prstGeom prst="roundRect">
            <a:avLst>
              <a:gd name="adj" fmla="val 1327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965113" y="4787341"/>
            <a:ext cx="1539118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H100 / H200</a:t>
            </a:r>
            <a:endParaRPr lang="en-US" sz="1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证词之外 · AI短剧项目路演</dc:title>
  <dc:subject>Editable PPTX export</dc:subject>
  <dc:creator>DashiAI PPT</dc:creator>
  <cp:lastModifiedBy>DashiAI PPT</cp:lastModifiedBy>
  <cp:revision>1</cp:revision>
  <dcterms:created xsi:type="dcterms:W3CDTF">2026-07-13T08:07:20Z</dcterms:created>
  <dcterms:modified xsi:type="dcterms:W3CDTF">2026-07-13T08:07:20Z</dcterms:modified>
</cp:coreProperties>
</file>