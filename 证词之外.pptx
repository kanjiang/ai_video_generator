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0C861-F211-4461-AB54-0936859E45F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EB0E8-BF9B-4797-B7B0-ED363AD6AC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7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大家好，今天介绍的是我们的 </a:t>
            </a:r>
            <a:r>
              <a:rPr lang="en-US" altLang="zh-CN">
                <a:latin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</a:rPr>
              <a:t>悬疑短片项目</a:t>
            </a:r>
            <a:r>
              <a:rPr lang="en-US" altLang="zh-CN">
                <a:latin typeface="Microsoft YaHei" panose="020B0503020204020204" pitchFamily="34" charset="-122"/>
              </a:rPr>
              <a:t>《</a:t>
            </a:r>
            <a:r>
              <a:rPr lang="zh-CN" altLang="en-US">
                <a:latin typeface="Microsoft YaHei" panose="020B0503020204020204" pitchFamily="34" charset="-122"/>
              </a:rPr>
              <a:t>证词之外</a:t>
            </a:r>
            <a:r>
              <a:rPr lang="en-US" altLang="zh-CN">
                <a:latin typeface="Microsoft YaHei" panose="020B0503020204020204" pitchFamily="34" charset="-122"/>
              </a:rPr>
              <a:t>》</a:t>
            </a:r>
            <a:r>
              <a:rPr lang="zh-CN" altLang="en-US">
                <a:latin typeface="Microsoft YaHei" panose="020B0503020204020204" pitchFamily="34" charset="-122"/>
              </a:rPr>
              <a:t>。它既是一部完整的悬疑作品，也是我们从剧本到 </a:t>
            </a:r>
            <a:r>
              <a:rPr lang="en-US" altLang="zh-CN">
                <a:latin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</a:rPr>
              <a:t>视频的全流程工程实践样板。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323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这个项目有双重身份。内容上讲述 </a:t>
            </a:r>
            <a:r>
              <a:rPr lang="en-US" altLang="zh-CN">
                <a:latin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</a:rPr>
              <a:t>语音和数据黑产相关的诱杀；工程上沉淀了完整制作链路。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1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用一句话交代核心悬念：追查真相的人，本身就是陷阱的一部分。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267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影片留下的不是真相被揭开，而是真相被技术重新编排。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453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四个人物都有表面身份和真实面目，支撑全片双层叙事。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655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题材和影像风格都服务于同一个目标：技术先于情感，真相慢半拍。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565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制作层面已经完成从剧本到可执行 </a:t>
            </a:r>
            <a:r>
              <a:rPr lang="en-US" altLang="zh-CN">
                <a:latin typeface="Microsoft YaHei" panose="020B0503020204020204" pitchFamily="34" charset="-122"/>
              </a:rPr>
              <a:t>Prompt </a:t>
            </a:r>
            <a:r>
              <a:rPr lang="zh-CN" altLang="en-US">
                <a:latin typeface="Microsoft YaHei" panose="020B0503020204020204" pitchFamily="34" charset="-122"/>
              </a:rPr>
              <a:t>的完整拆解。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964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两条工作流并行：一条管叙事开发，一条管参考图约束与低抽卡生成。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89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前期和视觉层 </a:t>
            </a:r>
            <a:r>
              <a:rPr lang="en-US" altLang="zh-CN">
                <a:latin typeface="Microsoft YaHei" panose="020B0503020204020204" pitchFamily="34" charset="-122"/>
              </a:rPr>
              <a:t>Skill </a:t>
            </a:r>
            <a:r>
              <a:rPr lang="zh-CN" altLang="en-US">
                <a:latin typeface="Microsoft YaHei" panose="020B0503020204020204" pitchFamily="34" charset="-122"/>
              </a:rPr>
              <a:t>负责把故事变成可拍、可生成、可追踪的方案。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83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资产与执行层 </a:t>
            </a:r>
            <a:r>
              <a:rPr lang="en-US" altLang="zh-CN">
                <a:latin typeface="Microsoft YaHei" panose="020B0503020204020204" pitchFamily="34" charset="-122"/>
              </a:rPr>
              <a:t>Skill </a:t>
            </a:r>
            <a:r>
              <a:rPr lang="zh-CN" altLang="en-US">
                <a:latin typeface="Microsoft YaHei" panose="020B0503020204020204" pitchFamily="34" charset="-122"/>
              </a:rPr>
              <a:t>负责把方案落到可生成、可验收的结果。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124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相比直接写长 </a:t>
            </a:r>
            <a:r>
              <a:rPr lang="en-US" altLang="zh-CN">
                <a:latin typeface="Microsoft YaHei" panose="020B0503020204020204" pitchFamily="34" charset="-122"/>
              </a:rPr>
              <a:t>Prompt </a:t>
            </a:r>
            <a:r>
              <a:rPr lang="zh-CN" altLang="en-US">
                <a:latin typeface="Microsoft YaHei" panose="020B0503020204020204" pitchFamily="34" charset="-122"/>
              </a:rPr>
              <a:t>无限抽卡，这套方案在质量、流程、成本、协作上更稳。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89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商业上既可作为内容产品，也可作为 </a:t>
            </a:r>
            <a:r>
              <a:rPr lang="en-US" altLang="zh-CN">
                <a:latin typeface="Microsoft YaHei" panose="020B0503020204020204" pitchFamily="34" charset="-122"/>
              </a:rPr>
              <a:t>To B </a:t>
            </a:r>
            <a:r>
              <a:rPr lang="zh-CN" altLang="en-US">
                <a:latin typeface="Microsoft YaHei" panose="020B0503020204020204" pitchFamily="34" charset="-122"/>
              </a:rPr>
              <a:t>工作流产品和技术资产包。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930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</a:rPr>
              <a:t>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EB0E8-BF9B-4797-B7B0-ED363AD6ACF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83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D3C7-527A-BB55-6ABC-B7A376529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9C50F-6142-DAFE-4852-20C387F4A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4D54A-051E-33DE-DDA4-CAD9F368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676E6-F095-C23B-C0E0-5FD3AFDC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00C53-E904-E837-8007-AC4ECD73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3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F405-FD06-11B4-2066-98A78FFE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0C4FE-091E-2B5E-1DA2-BF0886E33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64185-47CC-20DB-FEE9-106EAB25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3C4FB-47DC-A54C-2EFA-6EBC4754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29A3-72B5-52E3-4E59-3D2CB0CE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278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CE00-D392-051E-CB41-E47A0D394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425AB-5512-8EEB-D0B3-B560BC799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04A92-202B-40E5-C386-EC3FDB15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2737E-CC4D-24C9-AB38-473A1837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243E3-2304-749E-6F9E-2C725BCD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70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633A-9D4B-06C4-2F10-911C2EE5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A4C5-5D55-D176-67FD-6CA5A787E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7CC44-435D-4EAD-AD0A-A26AB8479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C97C6-E709-F183-FF83-D0060A35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CBBFA-1F00-198F-DC74-0D28680C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8DA56-F9E9-5C77-9524-B282F29B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27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24C5-D97D-2D9C-D229-59DCF9A4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7FFEF-CD57-0DAF-B9D8-B08ACD853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95DE6-AA59-EFD8-261B-318C8F710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98EA0-2A2B-B60C-508C-0EB783278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71238-C06B-BF45-61F9-0866817C9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8E62F-E8DB-2AC8-1A1B-D224C40F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76800-75DE-BA54-E207-D8DA8CAE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752D2-D905-5023-8EC8-99208545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41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FAD1-FFFD-F003-C97F-0E8A7CD0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6545D-C713-8994-670A-6AA00C29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623A5-1E95-4285-EAD2-4DA22869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8336C-F444-CC8F-B681-3219ED06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48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8845C-5A83-FC8F-3FCA-0CC3C1AF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F942C-AC99-3C52-E26E-6F8A4FBD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5339F-4C40-512F-EA5F-B57AC37F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47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8D13-AB39-9BF5-D37B-07FC6F8C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CE58-D0D1-B5DA-56B4-11937F2E4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B24D0-A89C-3515-A1F6-42DE7C7D8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60DC3-5E3A-3F71-6C34-0C6EACBB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3FFB3-FEA8-77A8-FC7D-E2AFB904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98CF3-BD00-B6AE-55BD-1D5D189C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32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C0CA-5045-8DB3-1BB4-F942B724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FDFBD-E717-4E5A-C8BA-F0F95FC45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66776-C9B8-0C5A-EAA1-E05415EFF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254C0-AD4F-AFE7-5016-918387A1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786EB-EEC8-C86B-219C-9D9A44AA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80A64-3615-60BC-A27E-5AA65FDE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02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B296-6AED-659D-94D3-D618234D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14C7C-A4A3-0E76-294D-10AB36748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30923-AFA1-AEBC-4278-64B145A1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06300-F281-F760-F093-830737FD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5A486-0DC7-AA73-84F1-7E17D383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39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DF1CF8-A59D-BE85-38C5-A759AE27A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3400D-3863-FA88-0A61-A4A16D8B5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464E0-7781-ED0D-14F8-2E6B9E10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3D6E8-5CB7-AA36-8FC6-A008171D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A0CC6-55E4-BFEA-D1F6-B5B11D40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83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BE204-E3BE-8F9C-9717-FF356B40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E7E6B-AD22-B73A-27C9-2F53C7A52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BE502-3B21-6F0B-D3CE-6C452529E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D407D-5A37-4DD8-86B9-5E623B05913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80ACB-8BD8-D413-A282-DBCAA0828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7A871-51A9-8709-7B2C-BCC32F106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9641A-5AAB-4EDA-8F52-AAF2BE818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54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8C65BB2-DE1A-A81B-9582-D3F787DBD8C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C5BD53-1F2E-3656-3D29-F2B9A77BB3F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5D9D80-ADF4-CA86-DBDD-4C7111579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4D377-B3CD-4B38-43A1-6A9E0D4C6F26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Video Generator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项目介绍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5A73E-0110-E6A9-0DE7-CD8BD6FC3446}"/>
              </a:ext>
            </a:extLst>
          </p:cNvPr>
          <p:cNvSpPr txBox="1"/>
          <p:nvPr/>
        </p:nvSpPr>
        <p:spPr>
          <a:xfrm>
            <a:off x="1270000" y="1473200"/>
            <a:ext cx="9652000" cy="69025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证词之外</a:t>
            </a:r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endParaRPr lang="zh-CN" altLang="en-US" sz="3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56C53-33CB-0B6F-B5A8-F5CA7BF70BB4}"/>
              </a:ext>
            </a:extLst>
          </p:cNvPr>
          <p:cNvSpPr txBox="1"/>
          <p:nvPr/>
        </p:nvSpPr>
        <p:spPr>
          <a:xfrm>
            <a:off x="1270000" y="2666999"/>
            <a:ext cx="9652000" cy="3175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一部以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语音犯罪为内核的冷调悬疑短片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也是本仓库从剧本到视频的全流程工程实践样板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7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类型：悬疑惊悚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片长：约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分钟（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15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秒）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技术：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Seedance 2.0 + Skill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驱动工作流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05DD8E-DA01-0CE5-F9CB-2BFEB3E03DA0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277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732F79F-E5A7-A4DF-5558-28FE940013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07093A-4139-8190-497A-C2615369B69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B5E5E2-9907-7606-52F2-3CDC6BD9C4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85AC41-72DF-2D35-EABA-4586DE9F9D30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AF228-AD3F-4214-B8E8-2D48BDE5FE6D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双重身份：好故事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可复用生产系统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E85AB7-636F-36BA-B7D1-CB91FC2D0A56}"/>
              </a:ext>
            </a:extLst>
          </p:cNvPr>
          <p:cNvSpPr txBox="1"/>
          <p:nvPr/>
        </p:nvSpPr>
        <p:spPr>
          <a:xfrm>
            <a:off x="1270000" y="2514599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一场被语音合成、远程诱导与空间布控精密设计的诱杀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观众以为在追真相，实际在走进陷阱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剧本 → 分镜 → 资产 → 故事板 → 视频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→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生成验收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真源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CLI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脚本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Web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证词之外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既是作品，也是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影视工业化的首个完整实践案例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4A0B3-CC5A-E34E-5551-9145CE27C310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0408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356E602-4A39-C17B-1B04-D5678B2D5B7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1A588F-A532-950B-209E-6B32B2DA50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C6B83-A72F-173A-E609-F397ADC30A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8A9D5-885C-DD62-44B1-4B2239527CB3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故事核心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16FCE4-B063-8C68-FCA7-FA38D45FECA4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一句话梗概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D6CF39-51C9-44F8-4C82-0FE36B098C30}"/>
              </a:ext>
            </a:extLst>
          </p:cNvPr>
          <p:cNvSpPr txBox="1"/>
          <p:nvPr/>
        </p:nvSpPr>
        <p:spPr>
          <a:xfrm>
            <a:off x="1270000" y="2514599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周妍在以为室友林晚已经遇害的情况下，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被一条来自林晚的语音引回旧公寓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307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她以为自己正在和林深一起追查真相，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实际上正一步步走进林深和陈伯利用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语音合成、远程诱导和高层露台布好的无痕陷阱。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5B07C-4AF7-BD86-E2FC-30A65A71712F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933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51B63DD-7D45-C61F-2CB2-CCEB38FD046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50F790-A24E-7AB5-2802-186BAA73A12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75C7A5-3F0F-128A-D424-60E8B166A9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571F1B-B848-E4FB-63DD-9B314F561CEE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剧情结构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C52BE-AF01-8C1E-B47D-5C6511147B6E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三幕故事线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F8CC5-FD62-36C5-DE02-F7E694D2543B}"/>
              </a:ext>
            </a:extLst>
          </p:cNvPr>
          <p:cNvSpPr txBox="1"/>
          <p:nvPr/>
        </p:nvSpPr>
        <p:spPr>
          <a:xfrm>
            <a:off x="1270000" y="2514599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第一幕：钩子与入局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林深试听语音，周妍来电，两人赴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307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公寓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智能音箱解锁，保安逼近，线索指向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楼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第二幕：追查与升级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电梯故障、追兵逼近，设备间暴露声音黑产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第三幕：露台陷阱与反转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林深松手揭露身份；林晚未死，仍被囚禁为系统提供情绪样本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868B2-C579-0F2F-75C1-A0DA1938651E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68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BD18052-CCE2-D16B-BD8B-805CF779C4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9EDA84-28E0-32F7-AF84-219FC2D9A3E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A61FA-B6D5-23A4-9176-C6AD3E0760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52BB41-9861-9F52-9BCC-0E9770E5234C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1FC36-1246-0603-5287-A08B054733BB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核心人物关系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A17F5-63BB-65A8-9E45-556D4E30FA43}"/>
              </a:ext>
            </a:extLst>
          </p:cNvPr>
          <p:cNvSpPr txBox="1"/>
          <p:nvPr/>
        </p:nvSpPr>
        <p:spPr>
          <a:xfrm>
            <a:off x="1270000" y="2514600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林深：焦急寻妹的哥哥 → 栖声科技幕后老板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周妍：继续追查的室友 → 被精准诱导的猎物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林晚：失踪受害者 → 被囚禁的活体情绪样本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陈伯：公寓管理者 → 监控配合与现场善后者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502A4-7B50-C22A-C341-22115FF32B00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665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86F3C44-09B9-D10B-4F20-A8822280238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32069B-3F64-2273-A95D-41F7675608F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26433-2856-5311-3E0E-6DE5F14C6C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0DE75C-D6D2-34C4-A7CE-A7D45563DB47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题材与风格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872EF-D1DA-BD9F-E829-0DEB1463A384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题材亮点与影像气质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7FFBC-E37A-1CBB-AA3C-E33C4CB8BB08}"/>
              </a:ext>
            </a:extLst>
          </p:cNvPr>
          <p:cNvSpPr txBox="1"/>
          <p:nvPr/>
        </p:nvSpPr>
        <p:spPr>
          <a:xfrm>
            <a:off x="1270000" y="2514600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题材切中时代焦虑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语音伪造、隐私监听、声纹采集与数据黑产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影像执行原则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固定机位、极简动作、单一光源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惊悚来自「声音先于画面」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核心道具回扣：音箱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设备间屏幕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白色手机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0A6E1-582A-AD8D-A5C4-8A61A7BD2BF9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799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04745C4-4302-4F55-3128-2610008F59D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652C44-DEBB-1E3A-AA15-FC432D2015E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74F88D-0F1E-8973-DF37-55B6C853D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D3B2D9-85A0-7594-F6F3-50AA755E84FE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生产数据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EF6D0-25F4-B022-E502-3E98D9906054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制作拆解规模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03F637-39CE-B1FB-116C-4C0C272C30DC}"/>
              </a:ext>
            </a:extLst>
          </p:cNvPr>
          <p:cNvSpPr txBox="1"/>
          <p:nvPr/>
        </p:nvSpPr>
        <p:spPr>
          <a:xfrm>
            <a:off x="1270000" y="2514599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个镜头，每镜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秒，共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个场次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Shot List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Reference Map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、三幕逐镜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镜测试包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Storyboard HTML / JSON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en-US" altLang="zh-CN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配套工具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Asset Canvas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资产看板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build_video_prompts.js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build_storyboard.js</a:t>
            </a: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E4D05-AC6A-5A66-C478-4934CA851700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54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E54F1CF-191F-A514-BAD3-3160CAAE938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807D63-30F4-1B93-4069-B3734B7D86C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7ED63A-5581-636D-A35C-083CB1EC2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B6B2A3-CC12-B0CE-80F9-47749315959C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1EE0F-7B39-3A51-85B4-EC38FCBBE956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标准制作全流程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837AD-4FD5-1B5F-6057-5A0A9B536F54}"/>
              </a:ext>
            </a:extLst>
          </p:cNvPr>
          <p:cNvSpPr txBox="1"/>
          <p:nvPr/>
        </p:nvSpPr>
        <p:spPr>
          <a:xfrm>
            <a:off x="1270000" y="2514600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叙事开发链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screenwriter → shotlist-builder →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 → 视频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低抽卡参考图链（实战版）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角色身份板 → 场景锚点图 →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宫格分镜 → 视频生成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先锁静态约束，再让视频阶段只负责「动起来」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98888-DEF1-1668-5753-A17ABC025590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55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2B66357-62EB-2B96-1ACB-C41F6F204AF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1FD15E-07B1-4E6A-7D86-280DAD20C54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ED9908-1C0B-A217-F815-52562116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8C0CCF-0C2F-21D5-E0A2-F3A9026CFAF6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· Agent Skills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3ED09-3EB3-464B-0D67-157FEADD3989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七大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（叙事与视觉）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7DB33-E382-ECE9-D802-E12E49169C02}"/>
              </a:ext>
            </a:extLst>
          </p:cNvPr>
          <p:cNvSpPr txBox="1"/>
          <p:nvPr/>
        </p:nvSpPr>
        <p:spPr>
          <a:xfrm>
            <a:off x="1270000" y="2514600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screenwriter —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剧本、角色、对白、时长控制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shotlist-builder —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拆镜、资产清单、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HTML Shotlist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storyboard-table-skill — 12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宫格分镜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角色身份板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scene-board-skill —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场景锚点图，锁定空间与灯光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DE4B3-17E6-8815-E675-FD557BA91260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20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43D7AA-A192-9FB4-EB86-F9FC49D97B0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F07A84-24FC-1BBD-FF28-EB3AB38762E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C4C1D-7C86-BA22-BEF3-7FCCAEFAA7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213AA-9C98-0B42-2C2F-C84D05C5EB41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· Agent Skills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52023-754C-B8EB-AC6E-7420D64E39DE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七大 </a:t>
            </a:r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</a:t>
            </a: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（资产与执行）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9F4EE-A8A2-7874-430B-6DCE38EA5B91}"/>
              </a:ext>
            </a:extLst>
          </p:cNvPr>
          <p:cNvSpPr txBox="1"/>
          <p:nvPr/>
        </p:nvSpPr>
        <p:spPr>
          <a:xfrm>
            <a:off x="1270000" y="2514599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asset-canvas —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资产看板、缺图追踪、空间标注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video-dialogue-punctuation —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中文对白停顿与情绪标点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seedance-2 —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Seedance 2.0 JSON Prompt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en-US" altLang="zh-CN" sz="15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四层约束模型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身份板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故事板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镜头层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场景图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视频生成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031583-CA57-B5E8-65E4-FFE5F1ACDFB7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3677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9C33525-B97E-61CB-72A7-4B9FE6B54A9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E9E321-7A4E-D2EC-A637-039328B3446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1B903-A9E1-5EA6-E3DC-C085C070C3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C89E67-27D6-F1A9-8F95-2AB2096E0090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为什么这样做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50AC9E-DFDA-4880-2F12-13EF36EB59F8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核心优势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C69DB-6078-9BDA-D69B-4E66E4FFA868}"/>
              </a:ext>
            </a:extLst>
          </p:cNvPr>
          <p:cNvSpPr txBox="1"/>
          <p:nvPr/>
        </p:nvSpPr>
        <p:spPr>
          <a:xfrm>
            <a:off x="1270000" y="2514600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质量可控：分层锁定，减少角色漂移和空间穿帮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流程可复用：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Markdown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真源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CLI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，避免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漂移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成本可降：静态约束前置，减少视频重抽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协作可扩展：编剧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导演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美术各守真源，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工作台串联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96F06-6867-2B59-B838-F267CCB7709E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167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2FDF26-5C67-0548-9636-F26BDC6193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F5A889-6DDD-83CA-D65A-6F7078341D1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E440E-4280-7B1E-24A2-F7A8F43636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633A58-C915-B028-7546-4DD87C1272FC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商业展望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0A032-C188-DEFF-6443-49E7EC481E21}"/>
              </a:ext>
            </a:extLst>
          </p:cNvPr>
          <p:cNvSpPr txBox="1"/>
          <p:nvPr/>
        </p:nvSpPr>
        <p:spPr>
          <a:xfrm>
            <a:off x="1270000" y="1473199"/>
            <a:ext cx="9652000" cy="55970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商业价值与未来方向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AD8BA-583F-E36D-6442-A71199738D27}"/>
              </a:ext>
            </a:extLst>
          </p:cNvPr>
          <p:cNvSpPr txBox="1"/>
          <p:nvPr/>
        </p:nvSpPr>
        <p:spPr>
          <a:xfrm>
            <a:off x="1270000" y="2514600"/>
            <a:ext cx="9652000" cy="3429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内容市场：悬疑短剧、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题材电影节、品牌安全科普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 B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服务：剧本到成片的 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影视制作中台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技术资产：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规范、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Reference Map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CLI </a:t>
            </a: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工具链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5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未来延展：系列化、互动化、国际化、自动化批量生成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9A31F8-9F14-DD9C-F724-8351CF3C6F2D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0418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972BCD1-0C19-79CF-0DDD-47BF444FA58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6700" y="0"/>
            <a:ext cx="55753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39E81C-0454-637C-37EF-91E5C44D982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B97D6C-0F60-50D7-BB24-2B4868B6A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279400"/>
            <a:ext cx="1803400" cy="55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5C9C2-5867-DDE4-783E-AAC7E5EAAA40}"/>
              </a:ext>
            </a:extLst>
          </p:cNvPr>
          <p:cNvSpPr txBox="1"/>
          <p:nvPr/>
        </p:nvSpPr>
        <p:spPr>
          <a:xfrm>
            <a:off x="1270000" y="1117600"/>
            <a:ext cx="9652000" cy="3048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·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3BA7C-C4BA-C18C-2D74-C4676092AE5A}"/>
              </a:ext>
            </a:extLst>
          </p:cNvPr>
          <p:cNvSpPr txBox="1"/>
          <p:nvPr/>
        </p:nvSpPr>
        <p:spPr>
          <a:xfrm>
            <a:off x="1270000" y="1473200"/>
            <a:ext cx="9652000" cy="69025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真相可以被技术重新编排，制作流程也可以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497678-641F-782F-64AF-AD2B7DE54031}"/>
              </a:ext>
            </a:extLst>
          </p:cNvPr>
          <p:cNvSpPr txBox="1"/>
          <p:nvPr/>
        </p:nvSpPr>
        <p:spPr>
          <a:xfrm>
            <a:off x="1270000" y="2667000"/>
            <a:ext cx="9652000" cy="3175000"/>
          </a:xfrm>
          <a:prstGeom prst="rect">
            <a:avLst/>
          </a:prstGeom>
          <a:noFill/>
        </p:spPr>
        <p:txBody>
          <a:bodyPr vert="horz" wrap="square" lIns="101600" tIns="50800" rIns="101600" bIns="508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《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证词之外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》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证明：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视频不只是生成画面，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而是可以把编剧、导演、美术、生成工程师的方法论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沉淀成可重复调用的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Skill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与工程链路。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7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好故事是起点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Skill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是生产力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工程化是护城河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endParaRPr lang="zh-CN" altLang="en-US" sz="17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zh-CN" altLang="en-US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 </a:t>
            </a:r>
            <a:r>
              <a:rPr lang="en-US" altLang="zh-CN" sz="1700">
                <a:solidFill>
                  <a:srgbClr val="F5F5F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Q &amp; A</a:t>
            </a:r>
            <a:endParaRPr lang="zh-CN" altLang="en-US" sz="1700">
              <a:solidFill>
                <a:srgbClr val="F5F5F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560D6-43F3-00A5-B53F-46EB4DE632A8}"/>
              </a:ext>
            </a:extLst>
          </p:cNvPr>
          <p:cNvSpPr txBox="1"/>
          <p:nvPr/>
        </p:nvSpPr>
        <p:spPr>
          <a:xfrm>
            <a:off x="5588000" y="6451600"/>
            <a:ext cx="1016000" cy="2494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900">
                <a:solidFill>
                  <a:srgbClr val="E6E6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/ 13</a:t>
            </a:r>
            <a:endParaRPr lang="zh-CN" altLang="en-US" sz="900">
              <a:solidFill>
                <a:srgbClr val="E6E6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08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Microsoft Office PowerPoint</Application>
  <PresentationFormat>Custom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YaHei</vt:lpstr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Xinchun Li (Nokia)</dc:creator>
  <cp:lastModifiedBy>Xinchun Li (Nokia)</cp:lastModifiedBy>
  <cp:revision>1</cp:revision>
  <dcterms:created xsi:type="dcterms:W3CDTF">2026-07-14T09:36:47Z</dcterms:created>
  <dcterms:modified xsi:type="dcterms:W3CDTF">2026-07-14T09:36:48Z</dcterms:modified>
</cp:coreProperties>
</file>